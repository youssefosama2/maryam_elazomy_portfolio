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ptos Bold" panose="020B0004020202020204" pitchFamily="34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334E79-593B-3CE2-DF31-B5BCA4005C71}" v="64" dt="2026-08-29T22:53:22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m Ahmed Mohamed Hussein Awad" userId="S::mariam.awad.2024@aiu.edu.eg::0fc612d1-bc34-42ed-be51-3dc84c3e1cd5" providerId="AD" clId="Web-{32334E79-593B-3CE2-DF31-B5BCA4005C71}"/>
    <pc:docChg chg="modSld">
      <pc:chgData name="Mariam Ahmed Mohamed Hussein Awad" userId="S::mariam.awad.2024@aiu.edu.eg::0fc612d1-bc34-42ed-be51-3dc84c3e1cd5" providerId="AD" clId="Web-{32334E79-593B-3CE2-DF31-B5BCA4005C71}" dt="2026-08-29T22:53:22.604" v="62" actId="1076"/>
      <pc:docMkLst>
        <pc:docMk/>
      </pc:docMkLst>
      <pc:sldChg chg="addSp modSp">
        <pc:chgData name="Mariam Ahmed Mohamed Hussein Awad" userId="S::mariam.awad.2024@aiu.edu.eg::0fc612d1-bc34-42ed-be51-3dc84c3e1cd5" providerId="AD" clId="Web-{32334E79-593B-3CE2-DF31-B5BCA4005C71}" dt="2026-08-29T22:52:53.885" v="59" actId="20577"/>
        <pc:sldMkLst>
          <pc:docMk/>
          <pc:sldMk cId="0" sldId="256"/>
        </pc:sldMkLst>
        <pc:spChg chg="mod">
          <ac:chgData name="Mariam Ahmed Mohamed Hussein Awad" userId="S::mariam.awad.2024@aiu.edu.eg::0fc612d1-bc34-42ed-be51-3dc84c3e1cd5" providerId="AD" clId="Web-{32334E79-593B-3CE2-DF31-B5BCA4005C71}" dt="2026-08-29T21:58:36.485" v="40" actId="20577"/>
          <ac:spMkLst>
            <pc:docMk/>
            <pc:sldMk cId="0" sldId="256"/>
            <ac:spMk id="13" creationId="{00000000-0000-0000-0000-000000000000}"/>
          </ac:spMkLst>
        </pc:spChg>
        <pc:spChg chg="add mod">
          <ac:chgData name="Mariam Ahmed Mohamed Hussein Awad" userId="S::mariam.awad.2024@aiu.edu.eg::0fc612d1-bc34-42ed-be51-3dc84c3e1cd5" providerId="AD" clId="Web-{32334E79-593B-3CE2-DF31-B5BCA4005C71}" dt="2026-08-29T22:52:53.885" v="59" actId="20577"/>
          <ac:spMkLst>
            <pc:docMk/>
            <pc:sldMk cId="0" sldId="256"/>
            <ac:spMk id="19" creationId="{95F404DA-6678-52A3-A81E-0F78570EBCD6}"/>
          </ac:spMkLst>
        </pc:spChg>
        <pc:grpChg chg="mod">
          <ac:chgData name="Mariam Ahmed Mohamed Hussein Awad" userId="S::mariam.awad.2024@aiu.edu.eg::0fc612d1-bc34-42ed-be51-3dc84c3e1cd5" providerId="AD" clId="Web-{32334E79-593B-3CE2-DF31-B5BCA4005C71}" dt="2026-08-29T21:30:01.107" v="0" actId="1076"/>
          <ac:grpSpMkLst>
            <pc:docMk/>
            <pc:sldMk cId="0" sldId="256"/>
            <ac:grpSpMk id="4" creationId="{00000000-0000-0000-0000-000000000000}"/>
          </ac:grpSpMkLst>
        </pc:grpChg>
        <pc:grpChg chg="add mod">
          <ac:chgData name="Mariam Ahmed Mohamed Hussein Awad" userId="S::mariam.awad.2024@aiu.edu.eg::0fc612d1-bc34-42ed-be51-3dc84c3e1cd5" providerId="AD" clId="Web-{32334E79-593B-3CE2-DF31-B5BCA4005C71}" dt="2026-08-29T21:58:51.548" v="42" actId="1076"/>
          <ac:grpSpMkLst>
            <pc:docMk/>
            <pc:sldMk cId="0" sldId="256"/>
            <ac:grpSpMk id="16" creationId="{49923D1D-F81E-FDED-915F-456BFB22CBC1}"/>
          </ac:grpSpMkLst>
        </pc:grpChg>
      </pc:sldChg>
      <pc:sldChg chg="modSp">
        <pc:chgData name="Mariam Ahmed Mohamed Hussein Awad" userId="S::mariam.awad.2024@aiu.edu.eg::0fc612d1-bc34-42ed-be51-3dc84c3e1cd5" providerId="AD" clId="Web-{32334E79-593B-3CE2-DF31-B5BCA4005C71}" dt="2026-08-29T22:53:22.604" v="62" actId="1076"/>
        <pc:sldMkLst>
          <pc:docMk/>
          <pc:sldMk cId="0" sldId="270"/>
        </pc:sldMkLst>
        <pc:spChg chg="mod">
          <ac:chgData name="Mariam Ahmed Mohamed Hussein Awad" userId="S::mariam.awad.2024@aiu.edu.eg::0fc612d1-bc34-42ed-be51-3dc84c3e1cd5" providerId="AD" clId="Web-{32334E79-593B-3CE2-DF31-B5BCA4005C71}" dt="2026-08-29T22:53:22.604" v="62" actId="1076"/>
          <ac:spMkLst>
            <pc:docMk/>
            <pc:sldMk cId="0" sldId="270"/>
            <ac:spMk id="76" creationId="{00000000-0000-0000-0000-000000000000}"/>
          </ac:spMkLst>
        </pc:spChg>
        <pc:grpChg chg="mod">
          <ac:chgData name="Mariam Ahmed Mohamed Hussein Awad" userId="S::mariam.awad.2024@aiu.edu.eg::0fc612d1-bc34-42ed-be51-3dc84c3e1cd5" providerId="AD" clId="Web-{32334E79-593B-3CE2-DF31-B5BCA4005C71}" dt="2026-08-29T22:53:18.104" v="61" actId="14100"/>
          <ac:grpSpMkLst>
            <pc:docMk/>
            <pc:sldMk cId="0" sldId="270"/>
            <ac:grpSpMk id="36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F1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45483" y="-14468"/>
            <a:ext cx="5741889" cy="10295039"/>
            <a:chOff x="0" y="0"/>
            <a:chExt cx="7655852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55814" cy="13726668"/>
            </a:xfrm>
            <a:custGeom>
              <a:avLst/>
              <a:gdLst/>
              <a:ahLst/>
              <a:cxnLst/>
              <a:rect l="l" t="t" r="r" b="b"/>
              <a:pathLst>
                <a:path w="7655814" h="13726668">
                  <a:moveTo>
                    <a:pt x="0" y="0"/>
                  </a:moveTo>
                  <a:lnTo>
                    <a:pt x="7655814" y="0"/>
                  </a:lnTo>
                  <a:lnTo>
                    <a:pt x="76558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F704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153020" y="1628518"/>
            <a:ext cx="10377449" cy="86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RE:FORM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0481" y="2873445"/>
            <a:ext cx="9965646" cy="154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DON’T RECYCLE IT.</a:t>
            </a:r>
          </a:p>
          <a:p>
            <a:pPr algn="l">
              <a:lnSpc>
                <a:spcPts val="5404"/>
              </a:lnSpc>
            </a:pPr>
            <a:r>
              <a:rPr lang="en-US" sz="4503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RE:FORM IT.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7932" y="5097180"/>
            <a:ext cx="9759744" cy="103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A circular-design system that prevents valuable university materials from becoming waste in the first place.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80500" y="6561372"/>
            <a:ext cx="3088510" cy="521618"/>
            <a:chOff x="0" y="0"/>
            <a:chExt cx="4118013" cy="6954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18102" cy="695579"/>
            </a:xfrm>
            <a:custGeom>
              <a:avLst/>
              <a:gdLst/>
              <a:ahLst/>
              <a:cxnLst/>
              <a:rect l="l" t="t" r="r" b="b"/>
              <a:pathLst>
                <a:path w="4118102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4002151" y="0"/>
                  </a:lnTo>
                  <a:cubicBezTo>
                    <a:pt x="4066159" y="0"/>
                    <a:pt x="4118102" y="51943"/>
                    <a:pt x="4118102" y="115951"/>
                  </a:cubicBezTo>
                  <a:lnTo>
                    <a:pt x="4118102" y="579628"/>
                  </a:lnTo>
                  <a:cubicBezTo>
                    <a:pt x="4118102" y="643636"/>
                    <a:pt x="4066159" y="695579"/>
                    <a:pt x="4002151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2EDDE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147850" y="6657184"/>
            <a:ext cx="3052524" cy="281683"/>
            <a:chOff x="-135037" y="-9525"/>
            <a:chExt cx="4070031" cy="3755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34994" cy="366046"/>
            </a:xfrm>
            <a:custGeom>
              <a:avLst/>
              <a:gdLst/>
              <a:ahLst/>
              <a:cxnLst/>
              <a:rect l="l" t="t" r="r" b="b"/>
              <a:pathLst>
                <a:path w="3934994" h="366046">
                  <a:moveTo>
                    <a:pt x="0" y="0"/>
                  </a:moveTo>
                  <a:lnTo>
                    <a:pt x="3934994" y="0"/>
                  </a:lnTo>
                  <a:lnTo>
                    <a:pt x="3934994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9463" b="-15946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-135037" y="-9525"/>
              <a:ext cx="3934993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0" b="1" dirty="0">
                  <a:solidFill>
                    <a:srgbClr val="181F1C"/>
                  </a:solidFill>
                  <a:latin typeface="Aptos Bold"/>
                </a:rPr>
                <a:t>Student name: </a:t>
              </a:r>
              <a:r>
                <a:rPr lang="en-US" sz="1350" b="1" dirty="0" err="1">
                  <a:solidFill>
                    <a:srgbClr val="181F1C"/>
                  </a:solidFill>
                  <a:latin typeface="Aptos Bold"/>
                </a:rPr>
                <a:t>maryam</a:t>
              </a:r>
              <a:r>
                <a:rPr lang="en-US" sz="1350" b="1" dirty="0">
                  <a:solidFill>
                    <a:srgbClr val="181F1C"/>
                  </a:solidFill>
                  <a:latin typeface="Aptos Bold"/>
                </a:rPr>
                <a:t> </a:t>
              </a:r>
              <a:r>
                <a:rPr lang="en-US" sz="1350" b="1" dirty="0" err="1">
                  <a:solidFill>
                    <a:srgbClr val="181F1C"/>
                  </a:solidFill>
                  <a:latin typeface="Aptos Bold"/>
                </a:rPr>
                <a:t>elazomy</a:t>
              </a:r>
              <a:endParaRPr lang="en-US" sz="1350" b="1">
                <a:solidFill>
                  <a:srgbClr val="181F1C"/>
                </a:solidFill>
                <a:latin typeface="Aptos Bold"/>
              </a:endParaRPr>
            </a:p>
            <a:p>
              <a:pPr algn="ctr">
                <a:lnSpc>
                  <a:spcPts val="1621"/>
                </a:lnSpc>
              </a:pPr>
              <a:r>
                <a:rPr lang="en-US" sz="1350" b="1">
                  <a:solidFill>
                    <a:srgbClr val="181F1C"/>
                  </a:solidFill>
                  <a:latin typeface="Aptos Bold"/>
                </a:rPr>
                <a:t>Id:23102314</a:t>
              </a:r>
              <a:endParaRPr lang="en-US" sz="1350" b="1" dirty="0">
                <a:solidFill>
                  <a:srgbClr val="181F1C"/>
                </a:solidFill>
                <a:latin typeface="Aptos Bold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861922" y="9009288"/>
            <a:ext cx="4680852" cy="649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ALAMEIN INTERNATIONAL UNIVERSITY</a:t>
            </a:r>
          </a:p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NEW ALAMEIN, EGYPT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568137" y="9658645"/>
            <a:ext cx="700107" cy="247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grpSp>
        <p:nvGrpSpPr>
          <p:cNvPr id="16" name="Group 9">
            <a:extLst>
              <a:ext uri="{FF2B5EF4-FFF2-40B4-BE49-F238E27FC236}">
                <a16:creationId xmlns:a16="http://schemas.microsoft.com/office/drawing/2014/main" id="{49923D1D-F81E-FDED-915F-456BFB22CBC1}"/>
              </a:ext>
            </a:extLst>
          </p:cNvPr>
          <p:cNvGrpSpPr/>
          <p:nvPr/>
        </p:nvGrpSpPr>
        <p:grpSpPr>
          <a:xfrm>
            <a:off x="1209436" y="7342663"/>
            <a:ext cx="3088577" cy="521685"/>
            <a:chOff x="0" y="0"/>
            <a:chExt cx="4118102" cy="695579"/>
          </a:xfrm>
        </p:grpSpPr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CFE39E02-F5F7-C66F-D75C-0B8C15831BEB}"/>
                </a:ext>
              </a:extLst>
            </p:cNvPr>
            <p:cNvSpPr/>
            <p:nvPr/>
          </p:nvSpPr>
          <p:spPr>
            <a:xfrm>
              <a:off x="0" y="0"/>
              <a:ext cx="4118102" cy="695579"/>
            </a:xfrm>
            <a:custGeom>
              <a:avLst/>
              <a:gdLst/>
              <a:ahLst/>
              <a:cxnLst/>
              <a:rect l="l" t="t" r="r" b="b"/>
              <a:pathLst>
                <a:path w="4118102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4002151" y="0"/>
                  </a:lnTo>
                  <a:cubicBezTo>
                    <a:pt x="4066159" y="0"/>
                    <a:pt x="4118102" y="51943"/>
                    <a:pt x="4118102" y="115951"/>
                  </a:cubicBezTo>
                  <a:lnTo>
                    <a:pt x="4118102" y="579628"/>
                  </a:lnTo>
                  <a:cubicBezTo>
                    <a:pt x="4118102" y="643636"/>
                    <a:pt x="4066159" y="695579"/>
                    <a:pt x="4002151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2EDDE"/>
            </a:solidFill>
          </p:spPr>
        </p:sp>
      </p:grpSp>
      <p:sp>
        <p:nvSpPr>
          <p:cNvPr id="19" name="TextBox 13">
            <a:extLst>
              <a:ext uri="{FF2B5EF4-FFF2-40B4-BE49-F238E27FC236}">
                <a16:creationId xmlns:a16="http://schemas.microsoft.com/office/drawing/2014/main" id="{95F404DA-6678-52A3-A81E-0F78570EBCD6}"/>
              </a:ext>
            </a:extLst>
          </p:cNvPr>
          <p:cNvSpPr txBox="1"/>
          <p:nvPr/>
        </p:nvSpPr>
        <p:spPr>
          <a:xfrm>
            <a:off x="1141098" y="7475128"/>
            <a:ext cx="2951245" cy="28168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1621"/>
              </a:lnSpc>
            </a:pPr>
            <a:r>
              <a:rPr lang="en-US" sz="1350" b="1" dirty="0">
                <a:solidFill>
                  <a:srgbClr val="181F1C"/>
                </a:solidFill>
                <a:latin typeface="Aptos Bold"/>
              </a:rPr>
              <a:t>Student name: </a:t>
            </a:r>
            <a:r>
              <a:rPr lang="en-US" sz="1350" b="1" dirty="0" err="1">
                <a:solidFill>
                  <a:srgbClr val="181F1C"/>
                </a:solidFill>
                <a:latin typeface="Aptos Bold"/>
              </a:rPr>
              <a:t>haneen</a:t>
            </a:r>
            <a:r>
              <a:rPr lang="en-US" sz="1350" b="1" dirty="0">
                <a:solidFill>
                  <a:srgbClr val="181F1C"/>
                </a:solidFill>
                <a:latin typeface="Aptos Bold"/>
              </a:rPr>
              <a:t> </a:t>
            </a:r>
            <a:r>
              <a:rPr lang="en-US" sz="1350" b="1" dirty="0" err="1">
                <a:solidFill>
                  <a:srgbClr val="181F1C"/>
                </a:solidFill>
                <a:latin typeface="Aptos Bold"/>
              </a:rPr>
              <a:t>ibraheem</a:t>
            </a:r>
            <a:endParaRPr lang="en-US" sz="1350" b="1">
              <a:solidFill>
                <a:srgbClr val="181F1C"/>
              </a:solidFill>
              <a:latin typeface="Aptos Bold"/>
            </a:endParaRPr>
          </a:p>
          <a:p>
            <a:pPr algn="ctr">
              <a:lnSpc>
                <a:spcPts val="1621"/>
              </a:lnSpc>
            </a:pPr>
            <a:r>
              <a:rPr lang="en-US" sz="1350" b="1">
                <a:solidFill>
                  <a:srgbClr val="181F1C"/>
                </a:solidFill>
                <a:latin typeface="Aptos Bold"/>
              </a:rPr>
              <a:t>Id:</a:t>
            </a:r>
            <a:r>
              <a:rPr lang="en-US" sz="1350">
                <a:solidFill>
                  <a:srgbClr val="181F1C"/>
                </a:solidFill>
                <a:ea typeface="+mn-lt"/>
                <a:cs typeface="+mn-lt"/>
              </a:rPr>
              <a:t>23100697</a:t>
            </a:r>
            <a:endParaRPr lang="en-US" sz="1350" b="1" dirty="0">
              <a:solidFill>
                <a:srgbClr val="181F1C"/>
              </a:solidFill>
              <a:latin typeface="Apto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15756" y="484994"/>
            <a:ext cx="7494832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01 / EXECUTIVE SUMMARY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756" y="10066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The idea in 30 seconds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3207" y="1967484"/>
            <a:ext cx="1600540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RE:FORM changes the question from “Where do we dispose of this?” to “What can this become?”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68137" y="9658645"/>
            <a:ext cx="700107" cy="247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5756" y="9681905"/>
            <a:ext cx="5161293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RE:FORM  /  AIU  /  GREEN LOOP 2026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9500" y="2951245"/>
            <a:ext cx="4598451" cy="4872990"/>
            <a:chOff x="0" y="0"/>
            <a:chExt cx="6131268" cy="64973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31179" cy="6497320"/>
            </a:xfrm>
            <a:custGeom>
              <a:avLst/>
              <a:gdLst/>
              <a:ahLst/>
              <a:cxnLst/>
              <a:rect l="l" t="t" r="r" b="b"/>
              <a:pathLst>
                <a:path w="6131179" h="6497320">
                  <a:moveTo>
                    <a:pt x="0" y="1021842"/>
                  </a:moveTo>
                  <a:cubicBezTo>
                    <a:pt x="0" y="457581"/>
                    <a:pt x="457581" y="0"/>
                    <a:pt x="1021842" y="0"/>
                  </a:cubicBezTo>
                  <a:lnTo>
                    <a:pt x="5109337" y="0"/>
                  </a:lnTo>
                  <a:cubicBezTo>
                    <a:pt x="5673725" y="0"/>
                    <a:pt x="6131179" y="457581"/>
                    <a:pt x="6131179" y="1021842"/>
                  </a:cubicBezTo>
                  <a:lnTo>
                    <a:pt x="6131179" y="5475478"/>
                  </a:lnTo>
                  <a:cubicBezTo>
                    <a:pt x="6131179" y="6039866"/>
                    <a:pt x="5673598" y="6497320"/>
                    <a:pt x="5109337" y="6497320"/>
                  </a:cubicBezTo>
                  <a:lnTo>
                    <a:pt x="1021842" y="6497320"/>
                  </a:lnTo>
                  <a:cubicBezTo>
                    <a:pt x="457581" y="6497320"/>
                    <a:pt x="0" y="6039739"/>
                    <a:pt x="0" y="5475478"/>
                  </a:cubicBezTo>
                  <a:close/>
                </a:path>
              </a:pathLst>
            </a:custGeom>
            <a:solidFill>
              <a:srgbClr val="181F1C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400108" y="3751955"/>
            <a:ext cx="3857254" cy="99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SURPLUS</a:t>
            </a:r>
          </a:p>
          <a:p>
            <a:pPr algn="ctr">
              <a:lnSpc>
                <a:spcPts val="4503"/>
              </a:lnSpc>
            </a:pPr>
            <a:r>
              <a:rPr lang="en-US" sz="3752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MATERIAL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00108" y="4891278"/>
            <a:ext cx="3857254" cy="512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00108" y="5714876"/>
            <a:ext cx="3857254" cy="99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NEW</a:t>
            </a:r>
          </a:p>
          <a:p>
            <a:pPr algn="ctr">
              <a:lnSpc>
                <a:spcPts val="4503"/>
              </a:lnSpc>
            </a:pPr>
            <a:r>
              <a:rPr lang="en-US" sz="3752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VALUE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236122" y="2941711"/>
            <a:ext cx="5097951" cy="2146706"/>
            <a:chOff x="0" y="0"/>
            <a:chExt cx="6797269" cy="28622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97167" cy="2862199"/>
            </a:xfrm>
            <a:custGeom>
              <a:avLst/>
              <a:gdLst/>
              <a:ahLst/>
              <a:cxnLst/>
              <a:rect l="l" t="t" r="r" b="b"/>
              <a:pathLst>
                <a:path w="6797167" h="2862199">
                  <a:moveTo>
                    <a:pt x="0" y="477012"/>
                  </a:moveTo>
                  <a:cubicBezTo>
                    <a:pt x="0" y="213614"/>
                    <a:pt x="213614" y="0"/>
                    <a:pt x="477012" y="0"/>
                  </a:cubicBezTo>
                  <a:lnTo>
                    <a:pt x="6320155" y="0"/>
                  </a:lnTo>
                  <a:cubicBezTo>
                    <a:pt x="6583680" y="0"/>
                    <a:pt x="6797167" y="213614"/>
                    <a:pt x="6797167" y="477012"/>
                  </a:cubicBezTo>
                  <a:lnTo>
                    <a:pt x="6797167" y="2385187"/>
                  </a:lnTo>
                  <a:cubicBezTo>
                    <a:pt x="6797167" y="2648712"/>
                    <a:pt x="6583553" y="2862199"/>
                    <a:pt x="6320155" y="2862199"/>
                  </a:cubicBezTo>
                  <a:lnTo>
                    <a:pt x="477012" y="2862199"/>
                  </a:lnTo>
                  <a:cubicBezTo>
                    <a:pt x="213614" y="2862326"/>
                    <a:pt x="0" y="2648712"/>
                    <a:pt x="0" y="23851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6575079" y="3216612"/>
            <a:ext cx="4420048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1  Capture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75079" y="3820592"/>
            <a:ext cx="4420048" cy="104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Collect usable surplus from approved university sources.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726818" y="2941711"/>
            <a:ext cx="5097951" cy="2146706"/>
            <a:chOff x="0" y="0"/>
            <a:chExt cx="6797269" cy="28622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797167" cy="2862199"/>
            </a:xfrm>
            <a:custGeom>
              <a:avLst/>
              <a:gdLst/>
              <a:ahLst/>
              <a:cxnLst/>
              <a:rect l="l" t="t" r="r" b="b"/>
              <a:pathLst>
                <a:path w="6797167" h="2862199">
                  <a:moveTo>
                    <a:pt x="0" y="477012"/>
                  </a:moveTo>
                  <a:cubicBezTo>
                    <a:pt x="0" y="213614"/>
                    <a:pt x="213614" y="0"/>
                    <a:pt x="477012" y="0"/>
                  </a:cubicBezTo>
                  <a:lnTo>
                    <a:pt x="6320155" y="0"/>
                  </a:lnTo>
                  <a:cubicBezTo>
                    <a:pt x="6583680" y="0"/>
                    <a:pt x="6797167" y="213614"/>
                    <a:pt x="6797167" y="477012"/>
                  </a:cubicBezTo>
                  <a:lnTo>
                    <a:pt x="6797167" y="2385187"/>
                  </a:lnTo>
                  <a:cubicBezTo>
                    <a:pt x="6797167" y="2648712"/>
                    <a:pt x="6583553" y="2862199"/>
                    <a:pt x="6320155" y="2862199"/>
                  </a:cubicBezTo>
                  <a:lnTo>
                    <a:pt x="477012" y="2862199"/>
                  </a:lnTo>
                  <a:cubicBezTo>
                    <a:pt x="213614" y="2862326"/>
                    <a:pt x="0" y="2648712"/>
                    <a:pt x="0" y="23851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2065765" y="3216612"/>
            <a:ext cx="4420048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2  Understand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65765" y="3820592"/>
            <a:ext cx="4420048" cy="104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Inventory each material and record its properties, condition and availability.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236122" y="5412524"/>
            <a:ext cx="5097951" cy="2146706"/>
            <a:chOff x="0" y="0"/>
            <a:chExt cx="6797269" cy="286227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797167" cy="2862199"/>
            </a:xfrm>
            <a:custGeom>
              <a:avLst/>
              <a:gdLst/>
              <a:ahLst/>
              <a:cxnLst/>
              <a:rect l="l" t="t" r="r" b="b"/>
              <a:pathLst>
                <a:path w="6797167" h="2862199">
                  <a:moveTo>
                    <a:pt x="0" y="477012"/>
                  </a:moveTo>
                  <a:cubicBezTo>
                    <a:pt x="0" y="213614"/>
                    <a:pt x="213614" y="0"/>
                    <a:pt x="477012" y="0"/>
                  </a:cubicBezTo>
                  <a:lnTo>
                    <a:pt x="6320155" y="0"/>
                  </a:lnTo>
                  <a:cubicBezTo>
                    <a:pt x="6583680" y="0"/>
                    <a:pt x="6797167" y="213614"/>
                    <a:pt x="6797167" y="477012"/>
                  </a:cubicBezTo>
                  <a:lnTo>
                    <a:pt x="6797167" y="2385187"/>
                  </a:lnTo>
                  <a:cubicBezTo>
                    <a:pt x="6797167" y="2648712"/>
                    <a:pt x="6583553" y="2862199"/>
                    <a:pt x="6320155" y="2862199"/>
                  </a:cubicBezTo>
                  <a:lnTo>
                    <a:pt x="477012" y="2862199"/>
                  </a:lnTo>
                  <a:cubicBezTo>
                    <a:pt x="213614" y="2862326"/>
                    <a:pt x="0" y="2648712"/>
                    <a:pt x="0" y="23851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6575079" y="5687425"/>
            <a:ext cx="4420048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3  Create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75079" y="6291405"/>
            <a:ext cx="4420048" cy="104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AI-assisted matching + student design challenges turn inventory into real concepts.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1726818" y="5412524"/>
            <a:ext cx="5097951" cy="2146706"/>
            <a:chOff x="0" y="0"/>
            <a:chExt cx="6797269" cy="286227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797167" cy="2862199"/>
            </a:xfrm>
            <a:custGeom>
              <a:avLst/>
              <a:gdLst/>
              <a:ahLst/>
              <a:cxnLst/>
              <a:rect l="l" t="t" r="r" b="b"/>
              <a:pathLst>
                <a:path w="6797167" h="2862199">
                  <a:moveTo>
                    <a:pt x="0" y="477012"/>
                  </a:moveTo>
                  <a:cubicBezTo>
                    <a:pt x="0" y="213614"/>
                    <a:pt x="213614" y="0"/>
                    <a:pt x="477012" y="0"/>
                  </a:cubicBezTo>
                  <a:lnTo>
                    <a:pt x="6320155" y="0"/>
                  </a:lnTo>
                  <a:cubicBezTo>
                    <a:pt x="6583680" y="0"/>
                    <a:pt x="6797167" y="213614"/>
                    <a:pt x="6797167" y="477012"/>
                  </a:cubicBezTo>
                  <a:lnTo>
                    <a:pt x="6797167" y="2385187"/>
                  </a:lnTo>
                  <a:cubicBezTo>
                    <a:pt x="6797167" y="2648712"/>
                    <a:pt x="6583553" y="2862199"/>
                    <a:pt x="6320155" y="2862199"/>
                  </a:cubicBezTo>
                  <a:lnTo>
                    <a:pt x="477012" y="2862199"/>
                  </a:lnTo>
                  <a:cubicBezTo>
                    <a:pt x="213614" y="2862326"/>
                    <a:pt x="0" y="2648712"/>
                    <a:pt x="0" y="23851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12065765" y="5687425"/>
            <a:ext cx="4420048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4  Prove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065765" y="6291405"/>
            <a:ext cx="4420048" cy="104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Prototype, manufacture, use or sell — while measuring environmental and financial value.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245657" y="7851686"/>
            <a:ext cx="10569578" cy="521618"/>
            <a:chOff x="0" y="0"/>
            <a:chExt cx="14092771" cy="69549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092810" cy="695579"/>
            </a:xfrm>
            <a:custGeom>
              <a:avLst/>
              <a:gdLst/>
              <a:ahLst/>
              <a:cxnLst/>
              <a:rect l="l" t="t" r="r" b="b"/>
              <a:pathLst>
                <a:path w="14092810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13976858" y="0"/>
                  </a:lnTo>
                  <a:cubicBezTo>
                    <a:pt x="14040867" y="0"/>
                    <a:pt x="14092810" y="51943"/>
                    <a:pt x="14092810" y="115951"/>
                  </a:cubicBezTo>
                  <a:lnTo>
                    <a:pt x="14092810" y="579628"/>
                  </a:lnTo>
                  <a:cubicBezTo>
                    <a:pt x="14092810" y="643636"/>
                    <a:pt x="14040867" y="695579"/>
                    <a:pt x="13976858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2EDDE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6314294" y="7954632"/>
            <a:ext cx="10432313" cy="274539"/>
            <a:chOff x="0" y="0"/>
            <a:chExt cx="13909751" cy="36605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909746" cy="366046"/>
            </a:xfrm>
            <a:custGeom>
              <a:avLst/>
              <a:gdLst/>
              <a:ahLst/>
              <a:cxnLst/>
              <a:rect l="l" t="t" r="r" b="b"/>
              <a:pathLst>
                <a:path w="13909746" h="366046">
                  <a:moveTo>
                    <a:pt x="0" y="0"/>
                  </a:moveTo>
                  <a:lnTo>
                    <a:pt x="13909746" y="0"/>
                  </a:lnTo>
                  <a:lnTo>
                    <a:pt x="13909746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90430" b="-69043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3909751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181F1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CORE BUSINESS: CAMPUS CIRCULAR-DESIGN SERVICE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15756" y="484994"/>
            <a:ext cx="7494832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02 / THE 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7920" y="4331200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The hidden problem is value loss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68137" y="9658645"/>
            <a:ext cx="700107" cy="247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5756" y="9681905"/>
            <a:ext cx="5161293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RE:FORM  /  AIU  /  GREEN LOOP 2026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60085" y="5419069"/>
            <a:ext cx="5166589" cy="2833040"/>
            <a:chOff x="0" y="0"/>
            <a:chExt cx="6888785" cy="37773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88734" cy="3777361"/>
            </a:xfrm>
            <a:custGeom>
              <a:avLst/>
              <a:gdLst/>
              <a:ahLst/>
              <a:cxnLst/>
              <a:rect l="l" t="t" r="r" b="b"/>
              <a:pathLst>
                <a:path w="6888734" h="3777361">
                  <a:moveTo>
                    <a:pt x="0" y="629539"/>
                  </a:moveTo>
                  <a:cubicBezTo>
                    <a:pt x="0" y="281813"/>
                    <a:pt x="281813" y="0"/>
                    <a:pt x="629539" y="0"/>
                  </a:cubicBezTo>
                  <a:lnTo>
                    <a:pt x="6259195" y="0"/>
                  </a:lnTo>
                  <a:cubicBezTo>
                    <a:pt x="6606921" y="0"/>
                    <a:pt x="6888734" y="281813"/>
                    <a:pt x="6888734" y="629539"/>
                  </a:cubicBezTo>
                  <a:lnTo>
                    <a:pt x="6888734" y="3147822"/>
                  </a:lnTo>
                  <a:cubicBezTo>
                    <a:pt x="6888734" y="3495548"/>
                    <a:pt x="6606921" y="3777361"/>
                    <a:pt x="6259195" y="3777361"/>
                  </a:cubicBezTo>
                  <a:lnTo>
                    <a:pt x="629539" y="3777361"/>
                  </a:lnTo>
                  <a:cubicBezTo>
                    <a:pt x="281813" y="3777361"/>
                    <a:pt x="0" y="3495548"/>
                    <a:pt x="0" y="314782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399032" y="5693970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MATERIAL VALUE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032" y="6297950"/>
            <a:ext cx="4488685" cy="1734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Banners, boards, wood, acrylic, fabric, cardboard and furniture can still have functional or creative value.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91948" y="5419069"/>
            <a:ext cx="5166589" cy="2833040"/>
            <a:chOff x="0" y="0"/>
            <a:chExt cx="6888785" cy="37773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88734" cy="3777361"/>
            </a:xfrm>
            <a:custGeom>
              <a:avLst/>
              <a:gdLst/>
              <a:ahLst/>
              <a:cxnLst/>
              <a:rect l="l" t="t" r="r" b="b"/>
              <a:pathLst>
                <a:path w="6888734" h="3777361">
                  <a:moveTo>
                    <a:pt x="0" y="629539"/>
                  </a:moveTo>
                  <a:cubicBezTo>
                    <a:pt x="0" y="281813"/>
                    <a:pt x="281813" y="0"/>
                    <a:pt x="629539" y="0"/>
                  </a:cubicBezTo>
                  <a:lnTo>
                    <a:pt x="6259195" y="0"/>
                  </a:lnTo>
                  <a:cubicBezTo>
                    <a:pt x="6606921" y="0"/>
                    <a:pt x="6888734" y="281813"/>
                    <a:pt x="6888734" y="629539"/>
                  </a:cubicBezTo>
                  <a:lnTo>
                    <a:pt x="6888734" y="3147822"/>
                  </a:lnTo>
                  <a:cubicBezTo>
                    <a:pt x="6888734" y="3495548"/>
                    <a:pt x="6606921" y="3777361"/>
                    <a:pt x="6259195" y="3777361"/>
                  </a:cubicBezTo>
                  <a:lnTo>
                    <a:pt x="629539" y="3777361"/>
                  </a:lnTo>
                  <a:cubicBezTo>
                    <a:pt x="281813" y="3777361"/>
                    <a:pt x="0" y="3495548"/>
                    <a:pt x="0" y="314782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6930904" y="5693970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FINANCIAL VALUE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30904" y="6297950"/>
            <a:ext cx="4488685" cy="1734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A university may purchase new materials while usable surplus remains underused or forgotten.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123820" y="5419069"/>
            <a:ext cx="5166589" cy="2833040"/>
            <a:chOff x="0" y="0"/>
            <a:chExt cx="6888785" cy="37773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88734" cy="3777361"/>
            </a:xfrm>
            <a:custGeom>
              <a:avLst/>
              <a:gdLst/>
              <a:ahLst/>
              <a:cxnLst/>
              <a:rect l="l" t="t" r="r" b="b"/>
              <a:pathLst>
                <a:path w="6888734" h="3777361">
                  <a:moveTo>
                    <a:pt x="0" y="629539"/>
                  </a:moveTo>
                  <a:cubicBezTo>
                    <a:pt x="0" y="281813"/>
                    <a:pt x="281813" y="0"/>
                    <a:pt x="629539" y="0"/>
                  </a:cubicBezTo>
                  <a:lnTo>
                    <a:pt x="6259195" y="0"/>
                  </a:lnTo>
                  <a:cubicBezTo>
                    <a:pt x="6606921" y="0"/>
                    <a:pt x="6888734" y="281813"/>
                    <a:pt x="6888734" y="629539"/>
                  </a:cubicBezTo>
                  <a:lnTo>
                    <a:pt x="6888734" y="3147822"/>
                  </a:lnTo>
                  <a:cubicBezTo>
                    <a:pt x="6888734" y="3495548"/>
                    <a:pt x="6606921" y="3777361"/>
                    <a:pt x="6259195" y="3777361"/>
                  </a:cubicBezTo>
                  <a:lnTo>
                    <a:pt x="629539" y="3777361"/>
                  </a:lnTo>
                  <a:cubicBezTo>
                    <a:pt x="281813" y="3777361"/>
                    <a:pt x="0" y="3495548"/>
                    <a:pt x="0" y="314782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462777" y="5693970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EDUCATIONAL VALUE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62777" y="6297950"/>
            <a:ext cx="4488685" cy="1734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Students need physical materials for making, prototyping, experimentation and interdisciplinary projects.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5756" y="10066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Why recycling alone is not enough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7920" y="1683422"/>
            <a:ext cx="1600540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Recycling is important — but it can still be the wrong first destination for a usable material.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67425" y="2264552"/>
            <a:ext cx="13946391" cy="622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A usable object may be discarded before its useful life ends.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7920" y="2168464"/>
            <a:ext cx="700107" cy="71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67425" y="2886858"/>
            <a:ext cx="13946391" cy="622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Recycling usually destroys the original form, function or design potential.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7920" y="2790770"/>
            <a:ext cx="700107" cy="71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1">
                <a:solidFill>
                  <a:srgbClr val="D27E3E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67425" y="3489818"/>
            <a:ext cx="13946391" cy="622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The university can lose procurement value and learning opportunities at the same time.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7920" y="3393730"/>
            <a:ext cx="700107" cy="71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65809" y="8595009"/>
            <a:ext cx="15511196" cy="729966"/>
            <a:chOff x="0" y="0"/>
            <a:chExt cx="20681594" cy="97328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681697" cy="973339"/>
            </a:xfrm>
            <a:custGeom>
              <a:avLst/>
              <a:gdLst/>
              <a:ahLst/>
              <a:cxnLst/>
              <a:rect l="l" t="t" r="r" b="b"/>
              <a:pathLst>
                <a:path w="20681697" h="973339">
                  <a:moveTo>
                    <a:pt x="0" y="162247"/>
                  </a:moveTo>
                  <a:cubicBezTo>
                    <a:pt x="0" y="72622"/>
                    <a:pt x="116078" y="0"/>
                    <a:pt x="259334" y="0"/>
                  </a:cubicBezTo>
                  <a:lnTo>
                    <a:pt x="20422363" y="0"/>
                  </a:lnTo>
                  <a:cubicBezTo>
                    <a:pt x="20565619" y="0"/>
                    <a:pt x="20681697" y="72622"/>
                    <a:pt x="20681697" y="162247"/>
                  </a:cubicBezTo>
                  <a:lnTo>
                    <a:pt x="20681697" y="811074"/>
                  </a:lnTo>
                  <a:cubicBezTo>
                    <a:pt x="20681697" y="900699"/>
                    <a:pt x="20565619" y="973339"/>
                    <a:pt x="20422363" y="973339"/>
                  </a:cubicBezTo>
                  <a:lnTo>
                    <a:pt x="259334" y="973339"/>
                  </a:lnTo>
                  <a:cubicBezTo>
                    <a:pt x="116078" y="973339"/>
                    <a:pt x="0" y="900619"/>
                    <a:pt x="0" y="811074"/>
                  </a:cubicBezTo>
                  <a:close/>
                </a:path>
              </a:pathLst>
            </a:custGeom>
            <a:solidFill>
              <a:srgbClr val="F2EDDE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858880" y="8762853"/>
            <a:ext cx="14632734" cy="384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RE:FORM principle:  REUSE / REFORM / REPAIR / REPURPOSE  →  RECYCLE LAST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15756" y="484994"/>
            <a:ext cx="7494832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03 / INNOVATION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756" y="10066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What makes RE:FORM different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3207" y="1967484"/>
            <a:ext cx="1600540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Do not claim that any single component is globally unique. The differentiation is the system and its positioning.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68137" y="9658645"/>
            <a:ext cx="70010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5756" y="9681905"/>
            <a:ext cx="5161293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RE:FORM  /  AIU  /  GREEN LOOP 2026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19975" y="2735809"/>
            <a:ext cx="16216598" cy="911304"/>
            <a:chOff x="0" y="0"/>
            <a:chExt cx="21622131" cy="12150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622130" cy="1215136"/>
            </a:xfrm>
            <a:custGeom>
              <a:avLst/>
              <a:gdLst/>
              <a:ahLst/>
              <a:cxnLst/>
              <a:rect l="l" t="t" r="r" b="b"/>
              <a:pathLst>
                <a:path w="21622130" h="1215136">
                  <a:moveTo>
                    <a:pt x="0" y="202565"/>
                  </a:moveTo>
                  <a:cubicBezTo>
                    <a:pt x="0" y="90678"/>
                    <a:pt x="90678" y="0"/>
                    <a:pt x="202565" y="0"/>
                  </a:cubicBezTo>
                  <a:lnTo>
                    <a:pt x="21419565" y="0"/>
                  </a:lnTo>
                  <a:cubicBezTo>
                    <a:pt x="21531453" y="0"/>
                    <a:pt x="21622130" y="90678"/>
                    <a:pt x="21622130" y="202565"/>
                  </a:cubicBezTo>
                  <a:lnTo>
                    <a:pt x="21622130" y="1012571"/>
                  </a:lnTo>
                  <a:cubicBezTo>
                    <a:pt x="21622130" y="1124458"/>
                    <a:pt x="21531453" y="1215136"/>
                    <a:pt x="21419565" y="1215136"/>
                  </a:cubicBezTo>
                  <a:lnTo>
                    <a:pt x="202565" y="1215136"/>
                  </a:lnTo>
                  <a:cubicBezTo>
                    <a:pt x="90678" y="1215009"/>
                    <a:pt x="0" y="1124458"/>
                    <a:pt x="0" y="10125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372648" y="3010710"/>
            <a:ext cx="3376813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Traditional recycling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37687" y="3010710"/>
            <a:ext cx="4337685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Moves material toward recycling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36138" y="2942082"/>
            <a:ext cx="7083028" cy="402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RE:FORM first asks what usable value can be recovered.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19975" y="3820220"/>
            <a:ext cx="16216598" cy="911304"/>
            <a:chOff x="0" y="0"/>
            <a:chExt cx="21622131" cy="12150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622130" cy="1215136"/>
            </a:xfrm>
            <a:custGeom>
              <a:avLst/>
              <a:gdLst/>
              <a:ahLst/>
              <a:cxnLst/>
              <a:rect l="l" t="t" r="r" b="b"/>
              <a:pathLst>
                <a:path w="21622130" h="1215136">
                  <a:moveTo>
                    <a:pt x="0" y="202565"/>
                  </a:moveTo>
                  <a:cubicBezTo>
                    <a:pt x="0" y="90678"/>
                    <a:pt x="90678" y="0"/>
                    <a:pt x="202565" y="0"/>
                  </a:cubicBezTo>
                  <a:lnTo>
                    <a:pt x="21419565" y="0"/>
                  </a:lnTo>
                  <a:cubicBezTo>
                    <a:pt x="21531453" y="0"/>
                    <a:pt x="21622130" y="90678"/>
                    <a:pt x="21622130" y="202565"/>
                  </a:cubicBezTo>
                  <a:lnTo>
                    <a:pt x="21622130" y="1012571"/>
                  </a:lnTo>
                  <a:cubicBezTo>
                    <a:pt x="21622130" y="1124458"/>
                    <a:pt x="21531453" y="1215136"/>
                    <a:pt x="21419565" y="1215136"/>
                  </a:cubicBezTo>
                  <a:lnTo>
                    <a:pt x="202565" y="1215136"/>
                  </a:lnTo>
                  <a:cubicBezTo>
                    <a:pt x="90678" y="1215009"/>
                    <a:pt x="0" y="1124458"/>
                    <a:pt x="0" y="10125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372648" y="4095121"/>
            <a:ext cx="3376813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Smart bins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37687" y="4095121"/>
            <a:ext cx="4337685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Improve sorting at disposal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36138" y="4026494"/>
            <a:ext cx="7083028" cy="402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RE:FORM intervenes before disposal.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19975" y="4904632"/>
            <a:ext cx="16216598" cy="911304"/>
            <a:chOff x="0" y="0"/>
            <a:chExt cx="21622131" cy="12150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622130" cy="1215136"/>
            </a:xfrm>
            <a:custGeom>
              <a:avLst/>
              <a:gdLst/>
              <a:ahLst/>
              <a:cxnLst/>
              <a:rect l="l" t="t" r="r" b="b"/>
              <a:pathLst>
                <a:path w="21622130" h="1215136">
                  <a:moveTo>
                    <a:pt x="0" y="202565"/>
                  </a:moveTo>
                  <a:cubicBezTo>
                    <a:pt x="0" y="90678"/>
                    <a:pt x="90678" y="0"/>
                    <a:pt x="202565" y="0"/>
                  </a:cubicBezTo>
                  <a:lnTo>
                    <a:pt x="21419565" y="0"/>
                  </a:lnTo>
                  <a:cubicBezTo>
                    <a:pt x="21531453" y="0"/>
                    <a:pt x="21622130" y="90678"/>
                    <a:pt x="21622130" y="202565"/>
                  </a:cubicBezTo>
                  <a:lnTo>
                    <a:pt x="21622130" y="1012571"/>
                  </a:lnTo>
                  <a:cubicBezTo>
                    <a:pt x="21622130" y="1124458"/>
                    <a:pt x="21531453" y="1215136"/>
                    <a:pt x="21419565" y="1215136"/>
                  </a:cubicBezTo>
                  <a:lnTo>
                    <a:pt x="202565" y="1215136"/>
                  </a:lnTo>
                  <a:cubicBezTo>
                    <a:pt x="90678" y="1215009"/>
                    <a:pt x="0" y="1124458"/>
                    <a:pt x="0" y="10125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372648" y="5179533"/>
            <a:ext cx="3376813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Waste contractors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37687" y="5179533"/>
            <a:ext cx="4337685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Collect and process waste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6138" y="5110905"/>
            <a:ext cx="7083028" cy="402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RE:FORM creates a controlled second-life pathway.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19975" y="5989044"/>
            <a:ext cx="16216598" cy="911304"/>
            <a:chOff x="0" y="0"/>
            <a:chExt cx="21622131" cy="12150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622130" cy="1215136"/>
            </a:xfrm>
            <a:custGeom>
              <a:avLst/>
              <a:gdLst/>
              <a:ahLst/>
              <a:cxnLst/>
              <a:rect l="l" t="t" r="r" b="b"/>
              <a:pathLst>
                <a:path w="21622130" h="1215136">
                  <a:moveTo>
                    <a:pt x="0" y="202565"/>
                  </a:moveTo>
                  <a:cubicBezTo>
                    <a:pt x="0" y="90678"/>
                    <a:pt x="90678" y="0"/>
                    <a:pt x="202565" y="0"/>
                  </a:cubicBezTo>
                  <a:lnTo>
                    <a:pt x="21419565" y="0"/>
                  </a:lnTo>
                  <a:cubicBezTo>
                    <a:pt x="21531453" y="0"/>
                    <a:pt x="21622130" y="90678"/>
                    <a:pt x="21622130" y="202565"/>
                  </a:cubicBezTo>
                  <a:lnTo>
                    <a:pt x="21622130" y="1012571"/>
                  </a:lnTo>
                  <a:cubicBezTo>
                    <a:pt x="21622130" y="1124458"/>
                    <a:pt x="21531453" y="1215136"/>
                    <a:pt x="21419565" y="1215136"/>
                  </a:cubicBezTo>
                  <a:lnTo>
                    <a:pt x="202565" y="1215136"/>
                  </a:lnTo>
                  <a:cubicBezTo>
                    <a:pt x="90678" y="1215009"/>
                    <a:pt x="0" y="1124458"/>
                    <a:pt x="0" y="10125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372648" y="6263945"/>
            <a:ext cx="3376813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Surplus marketplaces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037687" y="6263945"/>
            <a:ext cx="4337685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Help another user find surplus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36138" y="6195317"/>
            <a:ext cx="7083028" cy="402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RE:FORM also creates demand through student design challenges.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19975" y="7073456"/>
            <a:ext cx="16216598" cy="911304"/>
            <a:chOff x="0" y="0"/>
            <a:chExt cx="21622131" cy="121507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622130" cy="1215136"/>
            </a:xfrm>
            <a:custGeom>
              <a:avLst/>
              <a:gdLst/>
              <a:ahLst/>
              <a:cxnLst/>
              <a:rect l="l" t="t" r="r" b="b"/>
              <a:pathLst>
                <a:path w="21622130" h="1215136">
                  <a:moveTo>
                    <a:pt x="0" y="202565"/>
                  </a:moveTo>
                  <a:cubicBezTo>
                    <a:pt x="0" y="90678"/>
                    <a:pt x="90678" y="0"/>
                    <a:pt x="202565" y="0"/>
                  </a:cubicBezTo>
                  <a:lnTo>
                    <a:pt x="21419565" y="0"/>
                  </a:lnTo>
                  <a:cubicBezTo>
                    <a:pt x="21531453" y="0"/>
                    <a:pt x="21622130" y="90678"/>
                    <a:pt x="21622130" y="202565"/>
                  </a:cubicBezTo>
                  <a:lnTo>
                    <a:pt x="21622130" y="1012571"/>
                  </a:lnTo>
                  <a:cubicBezTo>
                    <a:pt x="21622130" y="1124458"/>
                    <a:pt x="21531453" y="1215136"/>
                    <a:pt x="21419565" y="1215136"/>
                  </a:cubicBezTo>
                  <a:lnTo>
                    <a:pt x="202565" y="1215136"/>
                  </a:lnTo>
                  <a:cubicBezTo>
                    <a:pt x="90678" y="1215009"/>
                    <a:pt x="0" y="1124458"/>
                    <a:pt x="0" y="10125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372648" y="7348357"/>
            <a:ext cx="3376813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Material libraries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037687" y="7348357"/>
            <a:ext cx="4337685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Make materials accessible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36138" y="7279729"/>
            <a:ext cx="7083028" cy="402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RE:FORM adds inventory intelligence, AI matching, challenges and measured outputs.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19975" y="8157867"/>
            <a:ext cx="16216598" cy="911304"/>
            <a:chOff x="0" y="0"/>
            <a:chExt cx="21622131" cy="12150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622130" cy="1215136"/>
            </a:xfrm>
            <a:custGeom>
              <a:avLst/>
              <a:gdLst/>
              <a:ahLst/>
              <a:cxnLst/>
              <a:rect l="l" t="t" r="r" b="b"/>
              <a:pathLst>
                <a:path w="21622130" h="1215136">
                  <a:moveTo>
                    <a:pt x="0" y="202565"/>
                  </a:moveTo>
                  <a:cubicBezTo>
                    <a:pt x="0" y="90678"/>
                    <a:pt x="90678" y="0"/>
                    <a:pt x="202565" y="0"/>
                  </a:cubicBezTo>
                  <a:lnTo>
                    <a:pt x="21419565" y="0"/>
                  </a:lnTo>
                  <a:cubicBezTo>
                    <a:pt x="21531453" y="0"/>
                    <a:pt x="21622130" y="90678"/>
                    <a:pt x="21622130" y="202565"/>
                  </a:cubicBezTo>
                  <a:lnTo>
                    <a:pt x="21622130" y="1012571"/>
                  </a:lnTo>
                  <a:cubicBezTo>
                    <a:pt x="21622130" y="1124458"/>
                    <a:pt x="21531453" y="1215136"/>
                    <a:pt x="21419565" y="1215136"/>
                  </a:cubicBezTo>
                  <a:lnTo>
                    <a:pt x="202565" y="1215136"/>
                  </a:lnTo>
                  <a:cubicBezTo>
                    <a:pt x="90678" y="1215009"/>
                    <a:pt x="0" y="1124458"/>
                    <a:pt x="0" y="10125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1372648" y="8432768"/>
            <a:ext cx="3376813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Student sustainability apps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037687" y="8432768"/>
            <a:ext cx="4337685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Drive awareness / rewards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636138" y="8364141"/>
            <a:ext cx="7083028" cy="402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RE:FORM connects participation to real physical products and verified impact.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15756" y="484994"/>
            <a:ext cx="7494832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04 / AIU PILOT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756" y="10066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Start small: three visible material streams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68137" y="9658645"/>
            <a:ext cx="70010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5756" y="9681905"/>
            <a:ext cx="5161293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RE:FORM  /  AIU  /  GREEN LOOP 2026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15756" y="1821094"/>
            <a:ext cx="3798498" cy="3647118"/>
            <a:chOff x="0" y="0"/>
            <a:chExt cx="6888785" cy="66142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88734" cy="6614160"/>
            </a:xfrm>
            <a:custGeom>
              <a:avLst/>
              <a:gdLst/>
              <a:ahLst/>
              <a:cxnLst/>
              <a:rect l="l" t="t" r="r" b="b"/>
              <a:pathLst>
                <a:path w="6888734" h="6614160">
                  <a:moveTo>
                    <a:pt x="0" y="1102360"/>
                  </a:moveTo>
                  <a:cubicBezTo>
                    <a:pt x="0" y="493522"/>
                    <a:pt x="493522" y="0"/>
                    <a:pt x="1102360" y="0"/>
                  </a:cubicBezTo>
                  <a:lnTo>
                    <a:pt x="5786374" y="0"/>
                  </a:lnTo>
                  <a:cubicBezTo>
                    <a:pt x="6395212" y="0"/>
                    <a:pt x="6888734" y="493522"/>
                    <a:pt x="6888734" y="1102360"/>
                  </a:cubicBezTo>
                  <a:lnTo>
                    <a:pt x="6888734" y="5511800"/>
                  </a:lnTo>
                  <a:cubicBezTo>
                    <a:pt x="6888734" y="6120638"/>
                    <a:pt x="6395212" y="6614160"/>
                    <a:pt x="5786374" y="6614160"/>
                  </a:cubicBezTo>
                  <a:lnTo>
                    <a:pt x="1102360" y="6614160"/>
                  </a:lnTo>
                  <a:cubicBezTo>
                    <a:pt x="493522" y="6614287"/>
                    <a:pt x="0" y="6120638"/>
                    <a:pt x="0" y="551180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400127" y="2040169"/>
            <a:ext cx="2402176" cy="521618"/>
            <a:chOff x="0" y="0"/>
            <a:chExt cx="3202902" cy="6954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02940" cy="695579"/>
            </a:xfrm>
            <a:custGeom>
              <a:avLst/>
              <a:gdLst/>
              <a:ahLst/>
              <a:cxnLst/>
              <a:rect l="l" t="t" r="r" b="b"/>
              <a:pathLst>
                <a:path w="3202940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3086989" y="0"/>
                  </a:lnTo>
                  <a:cubicBezTo>
                    <a:pt x="3150997" y="0"/>
                    <a:pt x="3202940" y="51943"/>
                    <a:pt x="3202940" y="115951"/>
                  </a:cubicBezTo>
                  <a:lnTo>
                    <a:pt x="3202940" y="579628"/>
                  </a:lnTo>
                  <a:cubicBezTo>
                    <a:pt x="3202940" y="643636"/>
                    <a:pt x="3150997" y="695579"/>
                    <a:pt x="3086989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468760" y="2163709"/>
            <a:ext cx="2264912" cy="274539"/>
            <a:chOff x="0" y="0"/>
            <a:chExt cx="3019882" cy="3660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19879" cy="366046"/>
            </a:xfrm>
            <a:custGeom>
              <a:avLst/>
              <a:gdLst/>
              <a:ahLst/>
              <a:cxnLst/>
              <a:rect l="l" t="t" r="r" b="b"/>
              <a:pathLst>
                <a:path w="3019879" h="366046">
                  <a:moveTo>
                    <a:pt x="0" y="0"/>
                  </a:moveTo>
                  <a:lnTo>
                    <a:pt x="3019879" y="0"/>
                  </a:lnTo>
                  <a:lnTo>
                    <a:pt x="3019879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750" b="-11075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3019882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EVENT VINYL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58922" y="2895162"/>
            <a:ext cx="1317812" cy="247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SOURCE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1495" y="3142650"/>
            <a:ext cx="4200420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Events / campaigns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31495" y="3554087"/>
            <a:ext cx="2072783" cy="247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POSSIBLE OUTPUT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1495" y="3875494"/>
            <a:ext cx="4269057" cy="89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Tote bags • covers • installations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8922" y="4635984"/>
            <a:ext cx="319283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Why first: visible + design-friendly + easy to demonstrate.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03444" y="1779711"/>
            <a:ext cx="3747416" cy="3647118"/>
            <a:chOff x="0" y="0"/>
            <a:chExt cx="4996555" cy="486282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96517" cy="4862758"/>
            </a:xfrm>
            <a:custGeom>
              <a:avLst/>
              <a:gdLst/>
              <a:ahLst/>
              <a:cxnLst/>
              <a:rect l="l" t="t" r="r" b="b"/>
              <a:pathLst>
                <a:path w="4996517" h="4862758">
                  <a:moveTo>
                    <a:pt x="0" y="810460"/>
                  </a:moveTo>
                  <a:cubicBezTo>
                    <a:pt x="0" y="362839"/>
                    <a:pt x="357960" y="0"/>
                    <a:pt x="799561" y="0"/>
                  </a:cubicBezTo>
                  <a:lnTo>
                    <a:pt x="4196957" y="0"/>
                  </a:lnTo>
                  <a:cubicBezTo>
                    <a:pt x="4638558" y="0"/>
                    <a:pt x="4996517" y="362839"/>
                    <a:pt x="4996517" y="810460"/>
                  </a:cubicBezTo>
                  <a:lnTo>
                    <a:pt x="4996517" y="4052298"/>
                  </a:lnTo>
                  <a:cubicBezTo>
                    <a:pt x="4996517" y="4499919"/>
                    <a:pt x="4638558" y="4862758"/>
                    <a:pt x="4196957" y="4862758"/>
                  </a:cubicBezTo>
                  <a:lnTo>
                    <a:pt x="799561" y="4862758"/>
                  </a:lnTo>
                  <a:cubicBezTo>
                    <a:pt x="357960" y="4862862"/>
                    <a:pt x="0" y="4499919"/>
                    <a:pt x="0" y="405229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177048" y="2040169"/>
            <a:ext cx="2402176" cy="521618"/>
            <a:chOff x="0" y="0"/>
            <a:chExt cx="3202902" cy="6954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202940" cy="695579"/>
            </a:xfrm>
            <a:custGeom>
              <a:avLst/>
              <a:gdLst/>
              <a:ahLst/>
              <a:cxnLst/>
              <a:rect l="l" t="t" r="r" b="b"/>
              <a:pathLst>
                <a:path w="3202940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3086989" y="0"/>
                  </a:lnTo>
                  <a:cubicBezTo>
                    <a:pt x="3150997" y="0"/>
                    <a:pt x="3202940" y="51943"/>
                    <a:pt x="3202940" y="115951"/>
                  </a:cubicBezTo>
                  <a:lnTo>
                    <a:pt x="3202940" y="579628"/>
                  </a:lnTo>
                  <a:cubicBezTo>
                    <a:pt x="3202940" y="643636"/>
                    <a:pt x="3150997" y="695579"/>
                    <a:pt x="3086989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D27E3E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245676" y="2163709"/>
            <a:ext cx="2264912" cy="274539"/>
            <a:chOff x="0" y="0"/>
            <a:chExt cx="3019882" cy="3660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019879" cy="366046"/>
            </a:xfrm>
            <a:custGeom>
              <a:avLst/>
              <a:gdLst/>
              <a:ahLst/>
              <a:cxnLst/>
              <a:rect l="l" t="t" r="r" b="b"/>
              <a:pathLst>
                <a:path w="3019879" h="366046">
                  <a:moveTo>
                    <a:pt x="0" y="0"/>
                  </a:moveTo>
                  <a:lnTo>
                    <a:pt x="3019879" y="0"/>
                  </a:lnTo>
                  <a:lnTo>
                    <a:pt x="3019879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750" b="-110752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3019882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EXHIBITION BOARD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010208" y="2895162"/>
            <a:ext cx="1317812" cy="247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SOURCE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10208" y="3142650"/>
            <a:ext cx="4200420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Art / design projects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10208" y="3554087"/>
            <a:ext cx="2072783" cy="247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POSSIBLE OUTPUT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010208" y="3875494"/>
            <a:ext cx="4269057" cy="89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Panels • signage • prototypes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10208" y="4635984"/>
            <a:ext cx="31407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Why first: visible + design-friendly + easy to demonstrate.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165235" y="1821094"/>
            <a:ext cx="3747416" cy="3647118"/>
            <a:chOff x="0" y="0"/>
            <a:chExt cx="4996555" cy="486282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996517" cy="4862758"/>
            </a:xfrm>
            <a:custGeom>
              <a:avLst/>
              <a:gdLst/>
              <a:ahLst/>
              <a:cxnLst/>
              <a:rect l="l" t="t" r="r" b="b"/>
              <a:pathLst>
                <a:path w="4996517" h="4862758">
                  <a:moveTo>
                    <a:pt x="0" y="810460"/>
                  </a:moveTo>
                  <a:cubicBezTo>
                    <a:pt x="0" y="362839"/>
                    <a:pt x="357960" y="0"/>
                    <a:pt x="799561" y="0"/>
                  </a:cubicBezTo>
                  <a:lnTo>
                    <a:pt x="4196957" y="0"/>
                  </a:lnTo>
                  <a:cubicBezTo>
                    <a:pt x="4638558" y="0"/>
                    <a:pt x="4996517" y="362839"/>
                    <a:pt x="4996517" y="810460"/>
                  </a:cubicBezTo>
                  <a:lnTo>
                    <a:pt x="4996517" y="4052298"/>
                  </a:lnTo>
                  <a:cubicBezTo>
                    <a:pt x="4996517" y="4499919"/>
                    <a:pt x="4638558" y="4862758"/>
                    <a:pt x="4196957" y="4862758"/>
                  </a:cubicBezTo>
                  <a:lnTo>
                    <a:pt x="799561" y="4862758"/>
                  </a:lnTo>
                  <a:cubicBezTo>
                    <a:pt x="357960" y="4862862"/>
                    <a:pt x="0" y="4499919"/>
                    <a:pt x="0" y="405229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0574810" y="2118193"/>
            <a:ext cx="2402176" cy="521618"/>
            <a:chOff x="0" y="0"/>
            <a:chExt cx="3202902" cy="69549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202940" cy="695579"/>
            </a:xfrm>
            <a:custGeom>
              <a:avLst/>
              <a:gdLst/>
              <a:ahLst/>
              <a:cxnLst/>
              <a:rect l="l" t="t" r="r" b="b"/>
              <a:pathLst>
                <a:path w="3202940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3086989" y="0"/>
                  </a:lnTo>
                  <a:cubicBezTo>
                    <a:pt x="3150997" y="0"/>
                    <a:pt x="3202940" y="51943"/>
                    <a:pt x="3202940" y="115951"/>
                  </a:cubicBezTo>
                  <a:lnTo>
                    <a:pt x="3202940" y="579628"/>
                  </a:lnTo>
                  <a:cubicBezTo>
                    <a:pt x="3202940" y="643636"/>
                    <a:pt x="3150997" y="695579"/>
                    <a:pt x="3086989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0643442" y="2241733"/>
            <a:ext cx="2264912" cy="274539"/>
            <a:chOff x="0" y="0"/>
            <a:chExt cx="3019882" cy="36605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019879" cy="366046"/>
            </a:xfrm>
            <a:custGeom>
              <a:avLst/>
              <a:gdLst/>
              <a:ahLst/>
              <a:cxnLst/>
              <a:rect l="l" t="t" r="r" b="b"/>
              <a:pathLst>
                <a:path w="3019879" h="366046">
                  <a:moveTo>
                    <a:pt x="0" y="0"/>
                  </a:moveTo>
                  <a:lnTo>
                    <a:pt x="3019879" y="0"/>
                  </a:lnTo>
                  <a:lnTo>
                    <a:pt x="3019879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750" b="-110752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3019882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WOOD / STRUCTURES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458086" y="2973186"/>
            <a:ext cx="1317812" cy="247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SOURCE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448753" y="3220674"/>
            <a:ext cx="4200420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Events / projects / surplus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448753" y="3632111"/>
            <a:ext cx="2072783" cy="247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POSSIBLE OUTPUT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380116" y="3953518"/>
            <a:ext cx="4269057" cy="89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Shelving • furniture • installations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458086" y="4714008"/>
            <a:ext cx="29419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Why first: visible + design-friendly + easy to demonstrate.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15756" y="58111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Six months: audit → build → prove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028700" y="6554062"/>
            <a:ext cx="4152931" cy="1582094"/>
            <a:chOff x="0" y="0"/>
            <a:chExt cx="6888785" cy="262434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888734" cy="2624328"/>
            </a:xfrm>
            <a:custGeom>
              <a:avLst/>
              <a:gdLst/>
              <a:ahLst/>
              <a:cxnLst/>
              <a:rect l="l" t="t" r="r" b="b"/>
              <a:pathLst>
                <a:path w="6888734" h="2624328">
                  <a:moveTo>
                    <a:pt x="0" y="437388"/>
                  </a:moveTo>
                  <a:cubicBezTo>
                    <a:pt x="0" y="195834"/>
                    <a:pt x="195834" y="0"/>
                    <a:pt x="437388" y="0"/>
                  </a:cubicBezTo>
                  <a:lnTo>
                    <a:pt x="6451346" y="0"/>
                  </a:lnTo>
                  <a:cubicBezTo>
                    <a:pt x="6692900" y="0"/>
                    <a:pt x="6888734" y="195834"/>
                    <a:pt x="6888734" y="437388"/>
                  </a:cubicBezTo>
                  <a:lnTo>
                    <a:pt x="6888734" y="2186940"/>
                  </a:lnTo>
                  <a:cubicBezTo>
                    <a:pt x="6888734" y="2428494"/>
                    <a:pt x="6692900" y="2624328"/>
                    <a:pt x="6451346" y="2624328"/>
                  </a:cubicBezTo>
                  <a:lnTo>
                    <a:pt x="437388" y="2624328"/>
                  </a:lnTo>
                  <a:cubicBezTo>
                    <a:pt x="195834" y="2624328"/>
                    <a:pt x="0" y="2428494"/>
                    <a:pt x="0" y="218694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262858" y="6701795"/>
            <a:ext cx="754971" cy="521618"/>
            <a:chOff x="0" y="0"/>
            <a:chExt cx="1006627" cy="69549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06602" cy="695579"/>
            </a:xfrm>
            <a:custGeom>
              <a:avLst/>
              <a:gdLst/>
              <a:ahLst/>
              <a:cxnLst/>
              <a:rect l="l" t="t" r="r" b="b"/>
              <a:pathLst>
                <a:path w="1006602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890651" y="0"/>
                  </a:lnTo>
                  <a:cubicBezTo>
                    <a:pt x="954659" y="0"/>
                    <a:pt x="1006602" y="51943"/>
                    <a:pt x="1006602" y="115951"/>
                  </a:cubicBezTo>
                  <a:lnTo>
                    <a:pt x="1006602" y="579628"/>
                  </a:lnTo>
                  <a:cubicBezTo>
                    <a:pt x="1006602" y="643636"/>
                    <a:pt x="954659" y="695579"/>
                    <a:pt x="890651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sp>
        <p:nvSpPr>
          <p:cNvPr id="49" name="TextBox 49"/>
          <p:cNvSpPr txBox="1"/>
          <p:nvPr/>
        </p:nvSpPr>
        <p:spPr>
          <a:xfrm>
            <a:off x="2148211" y="6809308"/>
            <a:ext cx="3308185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AUDIT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331490" y="6825334"/>
            <a:ext cx="617706" cy="274539"/>
            <a:chOff x="0" y="0"/>
            <a:chExt cx="823608" cy="36605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23603" cy="366046"/>
            </a:xfrm>
            <a:custGeom>
              <a:avLst/>
              <a:gdLst/>
              <a:ahLst/>
              <a:cxnLst/>
              <a:rect l="l" t="t" r="r" b="b"/>
              <a:pathLst>
                <a:path w="823603" h="366046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4" r="-7025" b="-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823608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M1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262858" y="7345109"/>
            <a:ext cx="4269057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Baseline • permissions • criteria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5297929" y="6550778"/>
            <a:ext cx="4152931" cy="1582094"/>
            <a:chOff x="0" y="0"/>
            <a:chExt cx="6888785" cy="2624341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888734" cy="2624328"/>
            </a:xfrm>
            <a:custGeom>
              <a:avLst/>
              <a:gdLst/>
              <a:ahLst/>
              <a:cxnLst/>
              <a:rect l="l" t="t" r="r" b="b"/>
              <a:pathLst>
                <a:path w="6888734" h="2624328">
                  <a:moveTo>
                    <a:pt x="0" y="437388"/>
                  </a:moveTo>
                  <a:cubicBezTo>
                    <a:pt x="0" y="195834"/>
                    <a:pt x="195834" y="0"/>
                    <a:pt x="437388" y="0"/>
                  </a:cubicBezTo>
                  <a:lnTo>
                    <a:pt x="6451346" y="0"/>
                  </a:lnTo>
                  <a:cubicBezTo>
                    <a:pt x="6692900" y="0"/>
                    <a:pt x="6888734" y="195834"/>
                    <a:pt x="6888734" y="437388"/>
                  </a:cubicBezTo>
                  <a:lnTo>
                    <a:pt x="6888734" y="2186940"/>
                  </a:lnTo>
                  <a:cubicBezTo>
                    <a:pt x="6888734" y="2428494"/>
                    <a:pt x="6692900" y="2624328"/>
                    <a:pt x="6451346" y="2624328"/>
                  </a:cubicBezTo>
                  <a:lnTo>
                    <a:pt x="437388" y="2624328"/>
                  </a:lnTo>
                  <a:cubicBezTo>
                    <a:pt x="195834" y="2624328"/>
                    <a:pt x="0" y="2428494"/>
                    <a:pt x="0" y="218694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9565160" y="6550778"/>
            <a:ext cx="4152931" cy="1582094"/>
            <a:chOff x="0" y="0"/>
            <a:chExt cx="6888785" cy="2624341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888734" cy="2624328"/>
            </a:xfrm>
            <a:custGeom>
              <a:avLst/>
              <a:gdLst/>
              <a:ahLst/>
              <a:cxnLst/>
              <a:rect l="l" t="t" r="r" b="b"/>
              <a:pathLst>
                <a:path w="6888734" h="2624328">
                  <a:moveTo>
                    <a:pt x="0" y="437388"/>
                  </a:moveTo>
                  <a:cubicBezTo>
                    <a:pt x="0" y="195834"/>
                    <a:pt x="195834" y="0"/>
                    <a:pt x="437388" y="0"/>
                  </a:cubicBezTo>
                  <a:lnTo>
                    <a:pt x="6451346" y="0"/>
                  </a:lnTo>
                  <a:cubicBezTo>
                    <a:pt x="6692900" y="0"/>
                    <a:pt x="6888734" y="195834"/>
                    <a:pt x="6888734" y="437388"/>
                  </a:cubicBezTo>
                  <a:lnTo>
                    <a:pt x="6888734" y="2186940"/>
                  </a:lnTo>
                  <a:cubicBezTo>
                    <a:pt x="6888734" y="2428494"/>
                    <a:pt x="6692900" y="2624328"/>
                    <a:pt x="6451346" y="2624328"/>
                  </a:cubicBezTo>
                  <a:lnTo>
                    <a:pt x="437388" y="2624328"/>
                  </a:lnTo>
                  <a:cubicBezTo>
                    <a:pt x="195834" y="2624328"/>
                    <a:pt x="0" y="2428494"/>
                    <a:pt x="0" y="218694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13832391" y="6554062"/>
            <a:ext cx="4152931" cy="1582094"/>
            <a:chOff x="0" y="0"/>
            <a:chExt cx="6888785" cy="2624341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888734" cy="2624328"/>
            </a:xfrm>
            <a:custGeom>
              <a:avLst/>
              <a:gdLst/>
              <a:ahLst/>
              <a:cxnLst/>
              <a:rect l="l" t="t" r="r" b="b"/>
              <a:pathLst>
                <a:path w="6888734" h="2624328">
                  <a:moveTo>
                    <a:pt x="0" y="437388"/>
                  </a:moveTo>
                  <a:cubicBezTo>
                    <a:pt x="0" y="195834"/>
                    <a:pt x="195834" y="0"/>
                    <a:pt x="437388" y="0"/>
                  </a:cubicBezTo>
                  <a:lnTo>
                    <a:pt x="6451346" y="0"/>
                  </a:lnTo>
                  <a:cubicBezTo>
                    <a:pt x="6692900" y="0"/>
                    <a:pt x="6888734" y="195834"/>
                    <a:pt x="6888734" y="437388"/>
                  </a:cubicBezTo>
                  <a:lnTo>
                    <a:pt x="6888734" y="2186940"/>
                  </a:lnTo>
                  <a:cubicBezTo>
                    <a:pt x="6888734" y="2428494"/>
                    <a:pt x="6692900" y="2624328"/>
                    <a:pt x="6451346" y="2624328"/>
                  </a:cubicBezTo>
                  <a:lnTo>
                    <a:pt x="437388" y="2624328"/>
                  </a:lnTo>
                  <a:cubicBezTo>
                    <a:pt x="195834" y="2624328"/>
                    <a:pt x="0" y="2428494"/>
                    <a:pt x="0" y="218694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5301671" y="8313847"/>
            <a:ext cx="4152931" cy="1582094"/>
            <a:chOff x="0" y="0"/>
            <a:chExt cx="6888785" cy="2624341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888734" cy="2624328"/>
            </a:xfrm>
            <a:custGeom>
              <a:avLst/>
              <a:gdLst/>
              <a:ahLst/>
              <a:cxnLst/>
              <a:rect l="l" t="t" r="r" b="b"/>
              <a:pathLst>
                <a:path w="6888734" h="2624328">
                  <a:moveTo>
                    <a:pt x="0" y="437388"/>
                  </a:moveTo>
                  <a:cubicBezTo>
                    <a:pt x="0" y="195834"/>
                    <a:pt x="195834" y="0"/>
                    <a:pt x="437388" y="0"/>
                  </a:cubicBezTo>
                  <a:lnTo>
                    <a:pt x="6451346" y="0"/>
                  </a:lnTo>
                  <a:cubicBezTo>
                    <a:pt x="6692900" y="0"/>
                    <a:pt x="6888734" y="195834"/>
                    <a:pt x="6888734" y="437388"/>
                  </a:cubicBezTo>
                  <a:lnTo>
                    <a:pt x="6888734" y="2186940"/>
                  </a:lnTo>
                  <a:cubicBezTo>
                    <a:pt x="6888734" y="2428494"/>
                    <a:pt x="6692900" y="2624328"/>
                    <a:pt x="6451346" y="2624328"/>
                  </a:cubicBezTo>
                  <a:lnTo>
                    <a:pt x="437388" y="2624328"/>
                  </a:lnTo>
                  <a:cubicBezTo>
                    <a:pt x="195834" y="2624328"/>
                    <a:pt x="0" y="2428494"/>
                    <a:pt x="0" y="218694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9565160" y="8324039"/>
            <a:ext cx="4152931" cy="1582094"/>
            <a:chOff x="0" y="0"/>
            <a:chExt cx="6888785" cy="2624341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888734" cy="2624328"/>
            </a:xfrm>
            <a:custGeom>
              <a:avLst/>
              <a:gdLst/>
              <a:ahLst/>
              <a:cxnLst/>
              <a:rect l="l" t="t" r="r" b="b"/>
              <a:pathLst>
                <a:path w="6888734" h="2624328">
                  <a:moveTo>
                    <a:pt x="0" y="437388"/>
                  </a:moveTo>
                  <a:cubicBezTo>
                    <a:pt x="0" y="195834"/>
                    <a:pt x="195834" y="0"/>
                    <a:pt x="437388" y="0"/>
                  </a:cubicBezTo>
                  <a:lnTo>
                    <a:pt x="6451346" y="0"/>
                  </a:lnTo>
                  <a:cubicBezTo>
                    <a:pt x="6692900" y="0"/>
                    <a:pt x="6888734" y="195834"/>
                    <a:pt x="6888734" y="437388"/>
                  </a:cubicBezTo>
                  <a:lnTo>
                    <a:pt x="6888734" y="2186940"/>
                  </a:lnTo>
                  <a:cubicBezTo>
                    <a:pt x="6888734" y="2428494"/>
                    <a:pt x="6692900" y="2624328"/>
                    <a:pt x="6451346" y="2624328"/>
                  </a:cubicBezTo>
                  <a:lnTo>
                    <a:pt x="437388" y="2624328"/>
                  </a:lnTo>
                  <a:cubicBezTo>
                    <a:pt x="195834" y="2624328"/>
                    <a:pt x="0" y="2428494"/>
                    <a:pt x="0" y="218694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5703444" y="6701795"/>
            <a:ext cx="754971" cy="521618"/>
            <a:chOff x="0" y="0"/>
            <a:chExt cx="1006627" cy="69549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06602" cy="695579"/>
            </a:xfrm>
            <a:custGeom>
              <a:avLst/>
              <a:gdLst/>
              <a:ahLst/>
              <a:cxnLst/>
              <a:rect l="l" t="t" r="r" b="b"/>
              <a:pathLst>
                <a:path w="1006602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890651" y="0"/>
                  </a:lnTo>
                  <a:cubicBezTo>
                    <a:pt x="954659" y="0"/>
                    <a:pt x="1006602" y="51943"/>
                    <a:pt x="1006602" y="115951"/>
                  </a:cubicBezTo>
                  <a:lnTo>
                    <a:pt x="1006602" y="579628"/>
                  </a:lnTo>
                  <a:cubicBezTo>
                    <a:pt x="1006602" y="643636"/>
                    <a:pt x="954659" y="695579"/>
                    <a:pt x="890651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D27E3E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5703444" y="6825334"/>
            <a:ext cx="617706" cy="274539"/>
            <a:chOff x="0" y="0"/>
            <a:chExt cx="823608" cy="36605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23603" cy="366046"/>
            </a:xfrm>
            <a:custGeom>
              <a:avLst/>
              <a:gdLst/>
              <a:ahLst/>
              <a:cxnLst/>
              <a:rect l="l" t="t" r="r" b="b"/>
              <a:pathLst>
                <a:path w="823603" h="366046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4" r="-7025" b="-1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9525"/>
              <a:ext cx="823608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M2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6706064" y="6825334"/>
            <a:ext cx="3308185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BUILD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703444" y="7345109"/>
            <a:ext cx="4269057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Library • QR • inventory • MVP AI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9888472" y="6701795"/>
            <a:ext cx="754971" cy="521618"/>
            <a:chOff x="0" y="0"/>
            <a:chExt cx="1006627" cy="69549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006602" cy="695579"/>
            </a:xfrm>
            <a:custGeom>
              <a:avLst/>
              <a:gdLst/>
              <a:ahLst/>
              <a:cxnLst/>
              <a:rect l="l" t="t" r="r" b="b"/>
              <a:pathLst>
                <a:path w="1006602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890651" y="0"/>
                  </a:lnTo>
                  <a:cubicBezTo>
                    <a:pt x="954659" y="0"/>
                    <a:pt x="1006602" y="51943"/>
                    <a:pt x="1006602" y="115951"/>
                  </a:cubicBezTo>
                  <a:lnTo>
                    <a:pt x="1006602" y="579628"/>
                  </a:lnTo>
                  <a:cubicBezTo>
                    <a:pt x="1006602" y="643636"/>
                    <a:pt x="954659" y="695579"/>
                    <a:pt x="890651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9974735" y="6825334"/>
            <a:ext cx="617706" cy="274539"/>
            <a:chOff x="0" y="0"/>
            <a:chExt cx="823608" cy="36605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23603" cy="366046"/>
            </a:xfrm>
            <a:custGeom>
              <a:avLst/>
              <a:gdLst/>
              <a:ahLst/>
              <a:cxnLst/>
              <a:rect l="l" t="t" r="r" b="b"/>
              <a:pathLst>
                <a:path w="823603" h="366046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4" r="-7025" b="-1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9525"/>
              <a:ext cx="823608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M3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10860552" y="6825334"/>
            <a:ext cx="3308185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COLLECT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888472" y="7345109"/>
            <a:ext cx="4269057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First batches • safety • profiles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14156241" y="6701795"/>
            <a:ext cx="754971" cy="521618"/>
            <a:chOff x="0" y="0"/>
            <a:chExt cx="1006627" cy="69549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006602" cy="695579"/>
            </a:xfrm>
            <a:custGeom>
              <a:avLst/>
              <a:gdLst/>
              <a:ahLst/>
              <a:cxnLst/>
              <a:rect l="l" t="t" r="r" b="b"/>
              <a:pathLst>
                <a:path w="1006602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890651" y="0"/>
                  </a:lnTo>
                  <a:cubicBezTo>
                    <a:pt x="954659" y="0"/>
                    <a:pt x="1006602" y="51943"/>
                    <a:pt x="1006602" y="115951"/>
                  </a:cubicBezTo>
                  <a:lnTo>
                    <a:pt x="1006602" y="579628"/>
                  </a:lnTo>
                  <a:cubicBezTo>
                    <a:pt x="1006602" y="643636"/>
                    <a:pt x="954659" y="695579"/>
                    <a:pt x="890651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D27E3E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14224873" y="6809308"/>
            <a:ext cx="617706" cy="274539"/>
            <a:chOff x="0" y="0"/>
            <a:chExt cx="823608" cy="36605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823603" cy="366046"/>
            </a:xfrm>
            <a:custGeom>
              <a:avLst/>
              <a:gdLst/>
              <a:ahLst/>
              <a:cxnLst/>
              <a:rect l="l" t="t" r="r" b="b"/>
              <a:pathLst>
                <a:path w="823603" h="366046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4" r="-7025" b="-1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9525"/>
              <a:ext cx="823608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M4</a:t>
              </a:r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15177911" y="6825334"/>
            <a:ext cx="3308185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CHALLENGE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4156241" y="7345109"/>
            <a:ext cx="4269057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Teams • concepts • prototypes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5703444" y="8475772"/>
            <a:ext cx="754971" cy="521618"/>
            <a:chOff x="0" y="0"/>
            <a:chExt cx="1006627" cy="69549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006602" cy="695579"/>
            </a:xfrm>
            <a:custGeom>
              <a:avLst/>
              <a:gdLst/>
              <a:ahLst/>
              <a:cxnLst/>
              <a:rect l="l" t="t" r="r" b="b"/>
              <a:pathLst>
                <a:path w="1006602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890651" y="0"/>
                  </a:lnTo>
                  <a:cubicBezTo>
                    <a:pt x="954659" y="0"/>
                    <a:pt x="1006602" y="51943"/>
                    <a:pt x="1006602" y="115951"/>
                  </a:cubicBezTo>
                  <a:lnTo>
                    <a:pt x="1006602" y="579628"/>
                  </a:lnTo>
                  <a:cubicBezTo>
                    <a:pt x="1006602" y="643636"/>
                    <a:pt x="954659" y="695579"/>
                    <a:pt x="890651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87" name="Group 87"/>
          <p:cNvGrpSpPr/>
          <p:nvPr/>
        </p:nvGrpSpPr>
        <p:grpSpPr>
          <a:xfrm>
            <a:off x="5772076" y="8599597"/>
            <a:ext cx="617706" cy="274539"/>
            <a:chOff x="0" y="0"/>
            <a:chExt cx="823608" cy="366052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23603" cy="366046"/>
            </a:xfrm>
            <a:custGeom>
              <a:avLst/>
              <a:gdLst/>
              <a:ahLst/>
              <a:cxnLst/>
              <a:rect l="l" t="t" r="r" b="b"/>
              <a:pathLst>
                <a:path w="823603" h="366046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4" r="-7025" b="-1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9525"/>
              <a:ext cx="823608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M5</a:t>
              </a:r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6580287" y="8583571"/>
            <a:ext cx="3308185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MAKE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5745192" y="9197415"/>
            <a:ext cx="4269057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Select • manufacture • test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9888472" y="8476058"/>
            <a:ext cx="754971" cy="521618"/>
            <a:chOff x="0" y="0"/>
            <a:chExt cx="1006627" cy="69549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006602" cy="695579"/>
            </a:xfrm>
            <a:custGeom>
              <a:avLst/>
              <a:gdLst/>
              <a:ahLst/>
              <a:cxnLst/>
              <a:rect l="l" t="t" r="r" b="b"/>
              <a:pathLst>
                <a:path w="1006602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890651" y="0"/>
                  </a:lnTo>
                  <a:cubicBezTo>
                    <a:pt x="954659" y="0"/>
                    <a:pt x="1006602" y="51943"/>
                    <a:pt x="1006602" y="115951"/>
                  </a:cubicBezTo>
                  <a:lnTo>
                    <a:pt x="1006602" y="579628"/>
                  </a:lnTo>
                  <a:cubicBezTo>
                    <a:pt x="1006602" y="643636"/>
                    <a:pt x="954659" y="695579"/>
                    <a:pt x="890651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D27E3E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9957104" y="8615623"/>
            <a:ext cx="617706" cy="274539"/>
            <a:chOff x="0" y="0"/>
            <a:chExt cx="823608" cy="366052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823603" cy="366046"/>
            </a:xfrm>
            <a:custGeom>
              <a:avLst/>
              <a:gdLst/>
              <a:ahLst/>
              <a:cxnLst/>
              <a:rect l="l" t="t" r="r" b="b"/>
              <a:pathLst>
                <a:path w="823603" h="366046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4" r="-7025" b="-1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9525"/>
              <a:ext cx="823608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M6</a:t>
              </a:r>
            </a:p>
          </p:txBody>
        </p:sp>
      </p:grpSp>
      <p:sp>
        <p:nvSpPr>
          <p:cNvPr id="97" name="TextBox 97"/>
          <p:cNvSpPr txBox="1"/>
          <p:nvPr/>
        </p:nvSpPr>
        <p:spPr>
          <a:xfrm>
            <a:off x="10860552" y="8583571"/>
            <a:ext cx="3308185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PROVE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9888472" y="9197415"/>
            <a:ext cx="4269057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Impact • economics • scale decision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15756" y="484994"/>
            <a:ext cx="7494832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05 / MATERIAL LIBRARY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756" y="10066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Collection workflow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68137" y="9658645"/>
            <a:ext cx="70010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5756" y="9681905"/>
            <a:ext cx="5161293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RE:FORM  /  AIU  /  GREEN LOOP 2026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9024" y="1821094"/>
            <a:ext cx="2380059" cy="3038942"/>
            <a:chOff x="0" y="0"/>
            <a:chExt cx="3173412" cy="40519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73476" cy="4051935"/>
            </a:xfrm>
            <a:custGeom>
              <a:avLst/>
              <a:gdLst/>
              <a:ahLst/>
              <a:cxnLst/>
              <a:rect l="l" t="t" r="r" b="b"/>
              <a:pathLst>
                <a:path w="3173476" h="4051935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2644521" y="0"/>
                  </a:lnTo>
                  <a:cubicBezTo>
                    <a:pt x="2936621" y="0"/>
                    <a:pt x="3173476" y="236855"/>
                    <a:pt x="3173476" y="528955"/>
                  </a:cubicBezTo>
                  <a:lnTo>
                    <a:pt x="3173476" y="3522980"/>
                  </a:lnTo>
                  <a:cubicBezTo>
                    <a:pt x="3173476" y="3815080"/>
                    <a:pt x="2936621" y="4051935"/>
                    <a:pt x="2644521" y="4051935"/>
                  </a:cubicBezTo>
                  <a:lnTo>
                    <a:pt x="528955" y="4051935"/>
                  </a:lnTo>
                  <a:cubicBezTo>
                    <a:pt x="236855" y="4051935"/>
                    <a:pt x="0" y="3815080"/>
                    <a:pt x="0" y="352298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148186" y="2173786"/>
            <a:ext cx="1921745" cy="521618"/>
            <a:chOff x="0" y="0"/>
            <a:chExt cx="2562327" cy="6954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62352" cy="695579"/>
            </a:xfrm>
            <a:custGeom>
              <a:avLst/>
              <a:gdLst/>
              <a:ahLst/>
              <a:cxnLst/>
              <a:rect l="l" t="t" r="r" b="b"/>
              <a:pathLst>
                <a:path w="2562352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446401" y="0"/>
                  </a:lnTo>
                  <a:cubicBezTo>
                    <a:pt x="2510409" y="0"/>
                    <a:pt x="2562352" y="51943"/>
                    <a:pt x="2562352" y="115951"/>
                  </a:cubicBezTo>
                  <a:lnTo>
                    <a:pt x="2562352" y="579628"/>
                  </a:lnTo>
                  <a:cubicBezTo>
                    <a:pt x="2562352" y="643636"/>
                    <a:pt x="2510409" y="695579"/>
                    <a:pt x="2446401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16824" y="2276742"/>
            <a:ext cx="1784471" cy="274539"/>
            <a:chOff x="0" y="0"/>
            <a:chExt cx="2379294" cy="3660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79297" cy="366046"/>
            </a:xfrm>
            <a:custGeom>
              <a:avLst/>
              <a:gdLst/>
              <a:ahLst/>
              <a:cxnLst/>
              <a:rect l="l" t="t" r="r" b="b"/>
              <a:pathLst>
                <a:path w="2379297" h="366046">
                  <a:moveTo>
                    <a:pt x="0" y="0"/>
                  </a:moveTo>
                  <a:lnTo>
                    <a:pt x="2379297" y="0"/>
                  </a:lnTo>
                  <a:lnTo>
                    <a:pt x="23792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6651" b="-7665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2379294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SOURCE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75618" y="3125495"/>
            <a:ext cx="1866881" cy="1061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Events • projects • facilities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44442" y="2947045"/>
            <a:ext cx="356940" cy="44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733005" y="1821094"/>
            <a:ext cx="2380059" cy="3038942"/>
            <a:chOff x="0" y="0"/>
            <a:chExt cx="3173412" cy="405192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73476" cy="4051935"/>
            </a:xfrm>
            <a:custGeom>
              <a:avLst/>
              <a:gdLst/>
              <a:ahLst/>
              <a:cxnLst/>
              <a:rect l="l" t="t" r="r" b="b"/>
              <a:pathLst>
                <a:path w="3173476" h="4051935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2644521" y="0"/>
                  </a:lnTo>
                  <a:cubicBezTo>
                    <a:pt x="2936621" y="0"/>
                    <a:pt x="3173476" y="236855"/>
                    <a:pt x="3173476" y="528955"/>
                  </a:cubicBezTo>
                  <a:lnTo>
                    <a:pt x="3173476" y="3522980"/>
                  </a:lnTo>
                  <a:cubicBezTo>
                    <a:pt x="3173476" y="3815080"/>
                    <a:pt x="2936621" y="4051935"/>
                    <a:pt x="2644521" y="4051935"/>
                  </a:cubicBezTo>
                  <a:lnTo>
                    <a:pt x="528955" y="4051935"/>
                  </a:lnTo>
                  <a:cubicBezTo>
                    <a:pt x="236855" y="4051935"/>
                    <a:pt x="0" y="3815080"/>
                    <a:pt x="0" y="352298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3962167" y="2173786"/>
            <a:ext cx="1921745" cy="521618"/>
            <a:chOff x="0" y="0"/>
            <a:chExt cx="2562327" cy="6954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562352" cy="695579"/>
            </a:xfrm>
            <a:custGeom>
              <a:avLst/>
              <a:gdLst/>
              <a:ahLst/>
              <a:cxnLst/>
              <a:rect l="l" t="t" r="r" b="b"/>
              <a:pathLst>
                <a:path w="2562352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446401" y="0"/>
                  </a:lnTo>
                  <a:cubicBezTo>
                    <a:pt x="2510409" y="0"/>
                    <a:pt x="2562352" y="51943"/>
                    <a:pt x="2562352" y="115951"/>
                  </a:cubicBezTo>
                  <a:lnTo>
                    <a:pt x="2562352" y="579628"/>
                  </a:lnTo>
                  <a:cubicBezTo>
                    <a:pt x="2562352" y="643636"/>
                    <a:pt x="2510409" y="695579"/>
                    <a:pt x="2446401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D27E3E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4030794" y="2276742"/>
            <a:ext cx="1784471" cy="274539"/>
            <a:chOff x="0" y="0"/>
            <a:chExt cx="2379294" cy="3660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79297" cy="366046"/>
            </a:xfrm>
            <a:custGeom>
              <a:avLst/>
              <a:gdLst/>
              <a:ahLst/>
              <a:cxnLst/>
              <a:rect l="l" t="t" r="r" b="b"/>
              <a:pathLst>
                <a:path w="2379297" h="366046">
                  <a:moveTo>
                    <a:pt x="0" y="0"/>
                  </a:moveTo>
                  <a:lnTo>
                    <a:pt x="2379297" y="0"/>
                  </a:lnTo>
                  <a:lnTo>
                    <a:pt x="23792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6651" b="-7665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2379294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CHECK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989599" y="3125495"/>
            <a:ext cx="1866881" cy="1061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Ownership • condition • safety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58422" y="2947045"/>
            <a:ext cx="356940" cy="44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546985" y="1821094"/>
            <a:ext cx="2380059" cy="3038942"/>
            <a:chOff x="0" y="0"/>
            <a:chExt cx="3173412" cy="405192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173476" cy="4051935"/>
            </a:xfrm>
            <a:custGeom>
              <a:avLst/>
              <a:gdLst/>
              <a:ahLst/>
              <a:cxnLst/>
              <a:rect l="l" t="t" r="r" b="b"/>
              <a:pathLst>
                <a:path w="3173476" h="4051935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2644521" y="0"/>
                  </a:lnTo>
                  <a:cubicBezTo>
                    <a:pt x="2936621" y="0"/>
                    <a:pt x="3173476" y="236855"/>
                    <a:pt x="3173476" y="528955"/>
                  </a:cubicBezTo>
                  <a:lnTo>
                    <a:pt x="3173476" y="3522980"/>
                  </a:lnTo>
                  <a:cubicBezTo>
                    <a:pt x="3173476" y="3815080"/>
                    <a:pt x="2936621" y="4051935"/>
                    <a:pt x="2644521" y="4051935"/>
                  </a:cubicBezTo>
                  <a:lnTo>
                    <a:pt x="528955" y="4051935"/>
                  </a:lnTo>
                  <a:cubicBezTo>
                    <a:pt x="236855" y="4051935"/>
                    <a:pt x="0" y="3815080"/>
                    <a:pt x="0" y="352298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776147" y="2173786"/>
            <a:ext cx="1921745" cy="521618"/>
            <a:chOff x="0" y="0"/>
            <a:chExt cx="2562327" cy="69549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562352" cy="695579"/>
            </a:xfrm>
            <a:custGeom>
              <a:avLst/>
              <a:gdLst/>
              <a:ahLst/>
              <a:cxnLst/>
              <a:rect l="l" t="t" r="r" b="b"/>
              <a:pathLst>
                <a:path w="2562352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446401" y="0"/>
                  </a:lnTo>
                  <a:cubicBezTo>
                    <a:pt x="2510409" y="0"/>
                    <a:pt x="2562352" y="51943"/>
                    <a:pt x="2562352" y="115951"/>
                  </a:cubicBezTo>
                  <a:lnTo>
                    <a:pt x="2562352" y="579628"/>
                  </a:lnTo>
                  <a:cubicBezTo>
                    <a:pt x="2562352" y="643636"/>
                    <a:pt x="2510409" y="695579"/>
                    <a:pt x="2446401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6844775" y="2276742"/>
            <a:ext cx="1784471" cy="274539"/>
            <a:chOff x="0" y="0"/>
            <a:chExt cx="2379294" cy="3660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379297" cy="366046"/>
            </a:xfrm>
            <a:custGeom>
              <a:avLst/>
              <a:gdLst/>
              <a:ahLst/>
              <a:cxnLst/>
              <a:rect l="l" t="t" r="r" b="b"/>
              <a:pathLst>
                <a:path w="2379297" h="366046">
                  <a:moveTo>
                    <a:pt x="0" y="0"/>
                  </a:moveTo>
                  <a:lnTo>
                    <a:pt x="2379297" y="0"/>
                  </a:lnTo>
                  <a:lnTo>
                    <a:pt x="23792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6651" b="-76653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2379294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INVENTORY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803579" y="3125495"/>
            <a:ext cx="1866881" cy="1061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Measure • label • QR • store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972402" y="2947045"/>
            <a:ext cx="356940" cy="44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360965" y="1821094"/>
            <a:ext cx="2380059" cy="3038942"/>
            <a:chOff x="0" y="0"/>
            <a:chExt cx="3173412" cy="405192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173476" cy="4051935"/>
            </a:xfrm>
            <a:custGeom>
              <a:avLst/>
              <a:gdLst/>
              <a:ahLst/>
              <a:cxnLst/>
              <a:rect l="l" t="t" r="r" b="b"/>
              <a:pathLst>
                <a:path w="3173476" h="4051935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2644521" y="0"/>
                  </a:lnTo>
                  <a:cubicBezTo>
                    <a:pt x="2936621" y="0"/>
                    <a:pt x="3173476" y="236855"/>
                    <a:pt x="3173476" y="528955"/>
                  </a:cubicBezTo>
                  <a:lnTo>
                    <a:pt x="3173476" y="3522980"/>
                  </a:lnTo>
                  <a:cubicBezTo>
                    <a:pt x="3173476" y="3815080"/>
                    <a:pt x="2936621" y="4051935"/>
                    <a:pt x="2644521" y="4051935"/>
                  </a:cubicBezTo>
                  <a:lnTo>
                    <a:pt x="528955" y="4051935"/>
                  </a:lnTo>
                  <a:cubicBezTo>
                    <a:pt x="236855" y="4051935"/>
                    <a:pt x="0" y="3815080"/>
                    <a:pt x="0" y="352298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9590118" y="2173786"/>
            <a:ext cx="1921745" cy="521618"/>
            <a:chOff x="0" y="0"/>
            <a:chExt cx="2562327" cy="69549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562352" cy="695579"/>
            </a:xfrm>
            <a:custGeom>
              <a:avLst/>
              <a:gdLst/>
              <a:ahLst/>
              <a:cxnLst/>
              <a:rect l="l" t="t" r="r" b="b"/>
              <a:pathLst>
                <a:path w="2562352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446401" y="0"/>
                  </a:lnTo>
                  <a:cubicBezTo>
                    <a:pt x="2510409" y="0"/>
                    <a:pt x="2562352" y="51943"/>
                    <a:pt x="2562352" y="115951"/>
                  </a:cubicBezTo>
                  <a:lnTo>
                    <a:pt x="2562352" y="579628"/>
                  </a:lnTo>
                  <a:cubicBezTo>
                    <a:pt x="2562352" y="643636"/>
                    <a:pt x="2510409" y="695579"/>
                    <a:pt x="2446401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D27E3E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9658755" y="2276742"/>
            <a:ext cx="1784471" cy="274539"/>
            <a:chOff x="0" y="0"/>
            <a:chExt cx="2379294" cy="36605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379297" cy="366046"/>
            </a:xfrm>
            <a:custGeom>
              <a:avLst/>
              <a:gdLst/>
              <a:ahLst/>
              <a:cxnLst/>
              <a:rect l="l" t="t" r="r" b="b"/>
              <a:pathLst>
                <a:path w="2379297" h="366046">
                  <a:moveTo>
                    <a:pt x="0" y="0"/>
                  </a:moveTo>
                  <a:lnTo>
                    <a:pt x="2379297" y="0"/>
                  </a:lnTo>
                  <a:lnTo>
                    <a:pt x="23792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6651" b="-76653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2379294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MATCH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9617550" y="3125495"/>
            <a:ext cx="1866881" cy="1061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AI suggestions + project needs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786373" y="2947045"/>
            <a:ext cx="356940" cy="44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2174945" y="1821094"/>
            <a:ext cx="2380059" cy="3038942"/>
            <a:chOff x="0" y="0"/>
            <a:chExt cx="3173412" cy="405192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173476" cy="4051935"/>
            </a:xfrm>
            <a:custGeom>
              <a:avLst/>
              <a:gdLst/>
              <a:ahLst/>
              <a:cxnLst/>
              <a:rect l="l" t="t" r="r" b="b"/>
              <a:pathLst>
                <a:path w="3173476" h="4051935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2644521" y="0"/>
                  </a:lnTo>
                  <a:cubicBezTo>
                    <a:pt x="2936621" y="0"/>
                    <a:pt x="3173476" y="236855"/>
                    <a:pt x="3173476" y="528955"/>
                  </a:cubicBezTo>
                  <a:lnTo>
                    <a:pt x="3173476" y="3522980"/>
                  </a:lnTo>
                  <a:cubicBezTo>
                    <a:pt x="3173476" y="3815080"/>
                    <a:pt x="2936621" y="4051935"/>
                    <a:pt x="2644521" y="4051935"/>
                  </a:cubicBezTo>
                  <a:lnTo>
                    <a:pt x="528955" y="4051935"/>
                  </a:lnTo>
                  <a:cubicBezTo>
                    <a:pt x="236855" y="4051935"/>
                    <a:pt x="0" y="3815080"/>
                    <a:pt x="0" y="352298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2404098" y="2173786"/>
            <a:ext cx="1921745" cy="521618"/>
            <a:chOff x="0" y="0"/>
            <a:chExt cx="2562327" cy="69549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562352" cy="695579"/>
            </a:xfrm>
            <a:custGeom>
              <a:avLst/>
              <a:gdLst/>
              <a:ahLst/>
              <a:cxnLst/>
              <a:rect l="l" t="t" r="r" b="b"/>
              <a:pathLst>
                <a:path w="2562352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446401" y="0"/>
                  </a:lnTo>
                  <a:cubicBezTo>
                    <a:pt x="2510409" y="0"/>
                    <a:pt x="2562352" y="51943"/>
                    <a:pt x="2562352" y="115951"/>
                  </a:cubicBezTo>
                  <a:lnTo>
                    <a:pt x="2562352" y="579628"/>
                  </a:lnTo>
                  <a:cubicBezTo>
                    <a:pt x="2562352" y="643636"/>
                    <a:pt x="2510409" y="695579"/>
                    <a:pt x="2446401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2472735" y="2276742"/>
            <a:ext cx="1784471" cy="274539"/>
            <a:chOff x="0" y="0"/>
            <a:chExt cx="2379294" cy="36605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379297" cy="366046"/>
            </a:xfrm>
            <a:custGeom>
              <a:avLst/>
              <a:gdLst/>
              <a:ahLst/>
              <a:cxnLst/>
              <a:rect l="l" t="t" r="r" b="b"/>
              <a:pathLst>
                <a:path w="2379297" h="366046">
                  <a:moveTo>
                    <a:pt x="0" y="0"/>
                  </a:moveTo>
                  <a:lnTo>
                    <a:pt x="2379297" y="0"/>
                  </a:lnTo>
                  <a:lnTo>
                    <a:pt x="23792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6651" b="-76653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2379294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CREATE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2431530" y="3125495"/>
            <a:ext cx="1866881" cy="1061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Challenge • prototype • select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600353" y="2947045"/>
            <a:ext cx="356940" cy="44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4988916" y="1821094"/>
            <a:ext cx="2380059" cy="3038942"/>
            <a:chOff x="0" y="0"/>
            <a:chExt cx="3173412" cy="405192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173476" cy="4051935"/>
            </a:xfrm>
            <a:custGeom>
              <a:avLst/>
              <a:gdLst/>
              <a:ahLst/>
              <a:cxnLst/>
              <a:rect l="l" t="t" r="r" b="b"/>
              <a:pathLst>
                <a:path w="3173476" h="4051935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2644521" y="0"/>
                  </a:lnTo>
                  <a:cubicBezTo>
                    <a:pt x="2936621" y="0"/>
                    <a:pt x="3173476" y="236855"/>
                    <a:pt x="3173476" y="528955"/>
                  </a:cubicBezTo>
                  <a:lnTo>
                    <a:pt x="3173476" y="3522980"/>
                  </a:lnTo>
                  <a:cubicBezTo>
                    <a:pt x="3173476" y="3815080"/>
                    <a:pt x="2936621" y="4051935"/>
                    <a:pt x="2644521" y="4051935"/>
                  </a:cubicBezTo>
                  <a:lnTo>
                    <a:pt x="528955" y="4051935"/>
                  </a:lnTo>
                  <a:cubicBezTo>
                    <a:pt x="236855" y="4051935"/>
                    <a:pt x="0" y="3815080"/>
                    <a:pt x="0" y="352298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15218078" y="2173786"/>
            <a:ext cx="1921745" cy="521618"/>
            <a:chOff x="0" y="0"/>
            <a:chExt cx="2562327" cy="69549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562352" cy="695579"/>
            </a:xfrm>
            <a:custGeom>
              <a:avLst/>
              <a:gdLst/>
              <a:ahLst/>
              <a:cxnLst/>
              <a:rect l="l" t="t" r="r" b="b"/>
              <a:pathLst>
                <a:path w="2562352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446401" y="0"/>
                  </a:lnTo>
                  <a:cubicBezTo>
                    <a:pt x="2510409" y="0"/>
                    <a:pt x="2562352" y="51943"/>
                    <a:pt x="2562352" y="115951"/>
                  </a:cubicBezTo>
                  <a:lnTo>
                    <a:pt x="2562352" y="579628"/>
                  </a:lnTo>
                  <a:cubicBezTo>
                    <a:pt x="2562352" y="643636"/>
                    <a:pt x="2510409" y="695579"/>
                    <a:pt x="2446401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D27E3E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15286715" y="2276742"/>
            <a:ext cx="1784471" cy="274539"/>
            <a:chOff x="0" y="0"/>
            <a:chExt cx="2379294" cy="36605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379297" cy="366046"/>
            </a:xfrm>
            <a:custGeom>
              <a:avLst/>
              <a:gdLst/>
              <a:ahLst/>
              <a:cxnLst/>
              <a:rect l="l" t="t" r="r" b="b"/>
              <a:pathLst>
                <a:path w="2379297" h="366046">
                  <a:moveTo>
                    <a:pt x="0" y="0"/>
                  </a:moveTo>
                  <a:lnTo>
                    <a:pt x="2379297" y="0"/>
                  </a:lnTo>
                  <a:lnTo>
                    <a:pt x="23792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6651" b="-76653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2379294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OUTPUT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5245510" y="3125495"/>
            <a:ext cx="1866881" cy="1061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Campus use • sale • recycle fallback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15756" y="5169503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Physical library + digital inventory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2357180" y="5983986"/>
            <a:ext cx="3526731" cy="3441751"/>
            <a:chOff x="0" y="0"/>
            <a:chExt cx="7595451" cy="7412431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595489" cy="7412482"/>
            </a:xfrm>
            <a:custGeom>
              <a:avLst/>
              <a:gdLst/>
              <a:ahLst/>
              <a:cxnLst/>
              <a:rect l="l" t="t" r="r" b="b"/>
              <a:pathLst>
                <a:path w="7595489" h="7412482">
                  <a:moveTo>
                    <a:pt x="0" y="1235456"/>
                  </a:moveTo>
                  <a:cubicBezTo>
                    <a:pt x="0" y="553085"/>
                    <a:pt x="553085" y="0"/>
                    <a:pt x="1235456" y="0"/>
                  </a:cubicBezTo>
                  <a:lnTo>
                    <a:pt x="6360033" y="0"/>
                  </a:lnTo>
                  <a:cubicBezTo>
                    <a:pt x="7042404" y="0"/>
                    <a:pt x="7595489" y="553085"/>
                    <a:pt x="7595489" y="1235456"/>
                  </a:cubicBezTo>
                  <a:lnTo>
                    <a:pt x="7595489" y="6177026"/>
                  </a:lnTo>
                  <a:cubicBezTo>
                    <a:pt x="7595489" y="6859397"/>
                    <a:pt x="7042404" y="7412482"/>
                    <a:pt x="6360033" y="7412482"/>
                  </a:cubicBezTo>
                  <a:lnTo>
                    <a:pt x="1235456" y="7412482"/>
                  </a:lnTo>
                  <a:cubicBezTo>
                    <a:pt x="553085" y="7412482"/>
                    <a:pt x="0" y="6859270"/>
                    <a:pt x="0" y="6177026"/>
                  </a:cubicBezTo>
                  <a:close/>
                </a:path>
              </a:pathLst>
            </a:custGeom>
            <a:solidFill>
              <a:srgbClr val="181F1C"/>
            </a:solidFill>
          </p:spPr>
        </p:sp>
      </p:grpSp>
      <p:sp>
        <p:nvSpPr>
          <p:cNvPr id="64" name="TextBox 64"/>
          <p:cNvSpPr txBox="1"/>
          <p:nvPr/>
        </p:nvSpPr>
        <p:spPr>
          <a:xfrm>
            <a:off x="2629109" y="6309736"/>
            <a:ext cx="2855406" cy="27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3"/>
              </a:lnSpc>
            </a:pPr>
            <a:r>
              <a:rPr lang="en-US" sz="2044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RF-2026-014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629109" y="6878088"/>
            <a:ext cx="900831" cy="15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3"/>
              </a:lnSpc>
            </a:pPr>
            <a:r>
              <a:rPr lang="en-US" sz="836" b="1">
                <a:solidFill>
                  <a:srgbClr val="8FB19A"/>
                </a:solidFill>
                <a:latin typeface="Aptos Bold"/>
                <a:ea typeface="Aptos Bold"/>
                <a:cs typeface="Aptos Bold"/>
                <a:sym typeface="Aptos Bold"/>
              </a:rPr>
              <a:t>Material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606400" y="6878088"/>
            <a:ext cx="1835629" cy="15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102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Vinyl banner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629109" y="7319994"/>
            <a:ext cx="900831" cy="15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3"/>
              </a:lnSpc>
            </a:pPr>
            <a:r>
              <a:rPr lang="en-US" sz="836" b="1">
                <a:solidFill>
                  <a:srgbClr val="8FB19A"/>
                </a:solidFill>
                <a:latin typeface="Aptos Bold"/>
                <a:ea typeface="Aptos Bold"/>
                <a:cs typeface="Aptos Bold"/>
                <a:sym typeface="Aptos Bold"/>
              </a:rPr>
              <a:t>Quantity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606400" y="7319994"/>
            <a:ext cx="1835629" cy="15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102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18 m²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629109" y="7761895"/>
            <a:ext cx="900831" cy="15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3"/>
              </a:lnSpc>
            </a:pPr>
            <a:r>
              <a:rPr lang="en-US" sz="836" b="1">
                <a:solidFill>
                  <a:srgbClr val="8FB19A"/>
                </a:solidFill>
                <a:latin typeface="Aptos Bold"/>
                <a:ea typeface="Aptos Bold"/>
                <a:cs typeface="Aptos Bold"/>
                <a:sym typeface="Aptos Bold"/>
              </a:rPr>
              <a:t>Condition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606400" y="7761895"/>
            <a:ext cx="1835629" cy="15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102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Good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629109" y="8203801"/>
            <a:ext cx="900831" cy="15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3"/>
              </a:lnSpc>
            </a:pPr>
            <a:r>
              <a:rPr lang="en-US" sz="836" b="1">
                <a:solidFill>
                  <a:srgbClr val="8FB19A"/>
                </a:solidFill>
                <a:latin typeface="Aptos Bold"/>
                <a:ea typeface="Aptos Bold"/>
                <a:cs typeface="Aptos Bold"/>
                <a:sym typeface="Aptos Bold"/>
              </a:rPr>
              <a:t>Location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606400" y="8203801"/>
            <a:ext cx="1835629" cy="15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102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Library A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629109" y="8645702"/>
            <a:ext cx="900831" cy="15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3"/>
              </a:lnSpc>
            </a:pPr>
            <a:r>
              <a:rPr lang="en-US" sz="836" b="1">
                <a:solidFill>
                  <a:srgbClr val="8FB19A"/>
                </a:solidFill>
                <a:latin typeface="Aptos Bold"/>
                <a:ea typeface="Aptos Bold"/>
                <a:cs typeface="Aptos Bold"/>
                <a:sym typeface="Aptos Bold"/>
              </a:rPr>
              <a:t>Status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606400" y="8645702"/>
            <a:ext cx="1835629" cy="15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1022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Available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629109" y="9045115"/>
            <a:ext cx="2855406" cy="199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5"/>
              </a:lnSpc>
            </a:pPr>
            <a:r>
              <a:rPr lang="en-US" sz="929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QR → PROFILE → CLAIM → CREATE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6336892" y="5983986"/>
            <a:ext cx="3240122" cy="1576653"/>
            <a:chOff x="0" y="0"/>
            <a:chExt cx="5882157" cy="2862275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5882132" cy="2862199"/>
            </a:xfrm>
            <a:custGeom>
              <a:avLst/>
              <a:gdLst/>
              <a:ahLst/>
              <a:cxnLst/>
              <a:rect l="l" t="t" r="r" b="b"/>
              <a:pathLst>
                <a:path w="5882132" h="2862199">
                  <a:moveTo>
                    <a:pt x="0" y="477012"/>
                  </a:moveTo>
                  <a:cubicBezTo>
                    <a:pt x="0" y="213614"/>
                    <a:pt x="213614" y="0"/>
                    <a:pt x="477012" y="0"/>
                  </a:cubicBezTo>
                  <a:lnTo>
                    <a:pt x="5405120" y="0"/>
                  </a:lnTo>
                  <a:cubicBezTo>
                    <a:pt x="5668645" y="0"/>
                    <a:pt x="5882132" y="213614"/>
                    <a:pt x="5882132" y="477012"/>
                  </a:cubicBezTo>
                  <a:lnTo>
                    <a:pt x="5882132" y="2385187"/>
                  </a:lnTo>
                  <a:cubicBezTo>
                    <a:pt x="5882132" y="2648712"/>
                    <a:pt x="5668518" y="2862199"/>
                    <a:pt x="5405120" y="2862199"/>
                  </a:cubicBezTo>
                  <a:lnTo>
                    <a:pt x="477012" y="2862199"/>
                  </a:lnTo>
                  <a:cubicBezTo>
                    <a:pt x="213614" y="2862326"/>
                    <a:pt x="0" y="2648712"/>
                    <a:pt x="0" y="23851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78" name="TextBox 78"/>
          <p:cNvSpPr txBox="1"/>
          <p:nvPr/>
        </p:nvSpPr>
        <p:spPr>
          <a:xfrm>
            <a:off x="6585832" y="6185888"/>
            <a:ext cx="2742235" cy="275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9"/>
              </a:lnSpc>
            </a:pPr>
            <a:r>
              <a:rPr lang="en-US" sz="143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Physical layer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585832" y="6629482"/>
            <a:ext cx="2742235" cy="76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lang="en-US" sz="1212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Receiving • inspection • storage • prototype area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9915863" y="5983986"/>
            <a:ext cx="3693798" cy="1576653"/>
            <a:chOff x="0" y="0"/>
            <a:chExt cx="6705765" cy="2862275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705727" cy="2862199"/>
            </a:xfrm>
            <a:custGeom>
              <a:avLst/>
              <a:gdLst/>
              <a:ahLst/>
              <a:cxnLst/>
              <a:rect l="l" t="t" r="r" b="b"/>
              <a:pathLst>
                <a:path w="6705727" h="2862199">
                  <a:moveTo>
                    <a:pt x="0" y="477012"/>
                  </a:moveTo>
                  <a:cubicBezTo>
                    <a:pt x="0" y="213614"/>
                    <a:pt x="213614" y="0"/>
                    <a:pt x="477012" y="0"/>
                  </a:cubicBezTo>
                  <a:lnTo>
                    <a:pt x="6228715" y="0"/>
                  </a:lnTo>
                  <a:cubicBezTo>
                    <a:pt x="6492240" y="0"/>
                    <a:pt x="6705727" y="213614"/>
                    <a:pt x="6705727" y="477012"/>
                  </a:cubicBezTo>
                  <a:lnTo>
                    <a:pt x="6705727" y="2385187"/>
                  </a:lnTo>
                  <a:cubicBezTo>
                    <a:pt x="6705727" y="2648712"/>
                    <a:pt x="6492113" y="2862199"/>
                    <a:pt x="6228715" y="2862199"/>
                  </a:cubicBezTo>
                  <a:lnTo>
                    <a:pt x="477012" y="2862199"/>
                  </a:lnTo>
                  <a:cubicBezTo>
                    <a:pt x="213614" y="2862326"/>
                    <a:pt x="0" y="2648712"/>
                    <a:pt x="0" y="23851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82" name="TextBox 82"/>
          <p:cNvSpPr txBox="1"/>
          <p:nvPr/>
        </p:nvSpPr>
        <p:spPr>
          <a:xfrm>
            <a:off x="10164810" y="6185888"/>
            <a:ext cx="3195903" cy="275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9"/>
              </a:lnSpc>
            </a:pPr>
            <a:r>
              <a:rPr lang="en-US" sz="143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Digital layer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164810" y="6629482"/>
            <a:ext cx="3195903" cy="76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lang="en-US" sz="1212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Material profiles • QR • availability • status</a:t>
            </a:r>
          </a:p>
        </p:txBody>
      </p:sp>
      <p:grpSp>
        <p:nvGrpSpPr>
          <p:cNvPr id="84" name="Group 84"/>
          <p:cNvGrpSpPr/>
          <p:nvPr/>
        </p:nvGrpSpPr>
        <p:grpSpPr>
          <a:xfrm>
            <a:off x="6336892" y="7849084"/>
            <a:ext cx="3240122" cy="1576653"/>
            <a:chOff x="0" y="0"/>
            <a:chExt cx="5882157" cy="2862275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5882132" cy="2862199"/>
            </a:xfrm>
            <a:custGeom>
              <a:avLst/>
              <a:gdLst/>
              <a:ahLst/>
              <a:cxnLst/>
              <a:rect l="l" t="t" r="r" b="b"/>
              <a:pathLst>
                <a:path w="5882132" h="2862199">
                  <a:moveTo>
                    <a:pt x="0" y="477012"/>
                  </a:moveTo>
                  <a:cubicBezTo>
                    <a:pt x="0" y="213614"/>
                    <a:pt x="213614" y="0"/>
                    <a:pt x="477012" y="0"/>
                  </a:cubicBezTo>
                  <a:lnTo>
                    <a:pt x="5405120" y="0"/>
                  </a:lnTo>
                  <a:cubicBezTo>
                    <a:pt x="5668645" y="0"/>
                    <a:pt x="5882132" y="213614"/>
                    <a:pt x="5882132" y="477012"/>
                  </a:cubicBezTo>
                  <a:lnTo>
                    <a:pt x="5882132" y="2385187"/>
                  </a:lnTo>
                  <a:cubicBezTo>
                    <a:pt x="5882132" y="2648712"/>
                    <a:pt x="5668518" y="2862199"/>
                    <a:pt x="5405120" y="2862199"/>
                  </a:cubicBezTo>
                  <a:lnTo>
                    <a:pt x="477012" y="2862199"/>
                  </a:lnTo>
                  <a:cubicBezTo>
                    <a:pt x="213614" y="2862326"/>
                    <a:pt x="0" y="2648712"/>
                    <a:pt x="0" y="23851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86" name="TextBox 86"/>
          <p:cNvSpPr txBox="1"/>
          <p:nvPr/>
        </p:nvSpPr>
        <p:spPr>
          <a:xfrm>
            <a:off x="6585832" y="8050986"/>
            <a:ext cx="2742235" cy="275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9"/>
              </a:lnSpc>
            </a:pPr>
            <a:r>
              <a:rPr lang="en-US" sz="143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Governance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585832" y="8494580"/>
            <a:ext cx="2742235" cy="76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lang="en-US" sz="1212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Approval • safety • ownership • end-of-life rules</a:t>
            </a:r>
          </a:p>
        </p:txBody>
      </p:sp>
      <p:grpSp>
        <p:nvGrpSpPr>
          <p:cNvPr id="88" name="Group 88"/>
          <p:cNvGrpSpPr/>
          <p:nvPr/>
        </p:nvGrpSpPr>
        <p:grpSpPr>
          <a:xfrm>
            <a:off x="9915863" y="7849084"/>
            <a:ext cx="3693798" cy="1576653"/>
            <a:chOff x="0" y="0"/>
            <a:chExt cx="6705765" cy="2862275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6705727" cy="2862199"/>
            </a:xfrm>
            <a:custGeom>
              <a:avLst/>
              <a:gdLst/>
              <a:ahLst/>
              <a:cxnLst/>
              <a:rect l="l" t="t" r="r" b="b"/>
              <a:pathLst>
                <a:path w="6705727" h="2862199">
                  <a:moveTo>
                    <a:pt x="0" y="477012"/>
                  </a:moveTo>
                  <a:cubicBezTo>
                    <a:pt x="0" y="213614"/>
                    <a:pt x="213614" y="0"/>
                    <a:pt x="477012" y="0"/>
                  </a:cubicBezTo>
                  <a:lnTo>
                    <a:pt x="6228715" y="0"/>
                  </a:lnTo>
                  <a:cubicBezTo>
                    <a:pt x="6492240" y="0"/>
                    <a:pt x="6705727" y="213614"/>
                    <a:pt x="6705727" y="477012"/>
                  </a:cubicBezTo>
                  <a:lnTo>
                    <a:pt x="6705727" y="2385187"/>
                  </a:lnTo>
                  <a:cubicBezTo>
                    <a:pt x="6705727" y="2648712"/>
                    <a:pt x="6492113" y="2862199"/>
                    <a:pt x="6228715" y="2862199"/>
                  </a:cubicBezTo>
                  <a:lnTo>
                    <a:pt x="477012" y="2862199"/>
                  </a:lnTo>
                  <a:cubicBezTo>
                    <a:pt x="213614" y="2862326"/>
                    <a:pt x="0" y="2648712"/>
                    <a:pt x="0" y="23851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90" name="TextBox 90"/>
          <p:cNvSpPr txBox="1"/>
          <p:nvPr/>
        </p:nvSpPr>
        <p:spPr>
          <a:xfrm>
            <a:off x="10164810" y="8050986"/>
            <a:ext cx="3195903" cy="275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9"/>
              </a:lnSpc>
            </a:pPr>
            <a:r>
              <a:rPr lang="en-US" sz="143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Impact record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164810" y="8494580"/>
            <a:ext cx="3195903" cy="76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lang="en-US" sz="1212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Reuse • avoided purchases • student use • outputs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15756" y="484994"/>
            <a:ext cx="7494832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06 / AI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756" y="10066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AI should remove friction — not create hype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3207" y="1967484"/>
            <a:ext cx="1600540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Human approval remains mandatory for safety, ownership, manufacturing and final use.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68137" y="9658645"/>
            <a:ext cx="70010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5756" y="9681905"/>
            <a:ext cx="5161293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RE:FORM  /  AIU  /  GREEN LOOP 2026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19975" y="2667181"/>
            <a:ext cx="16216598" cy="979932"/>
            <a:chOff x="0" y="0"/>
            <a:chExt cx="21622131" cy="13065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622131" cy="1306576"/>
            </a:xfrm>
            <a:custGeom>
              <a:avLst/>
              <a:gdLst/>
              <a:ahLst/>
              <a:cxnLst/>
              <a:rect l="l" t="t" r="r" b="b"/>
              <a:pathLst>
                <a:path w="21622131" h="1306576">
                  <a:moveTo>
                    <a:pt x="0" y="217805"/>
                  </a:moveTo>
                  <a:cubicBezTo>
                    <a:pt x="0" y="97536"/>
                    <a:pt x="97536" y="0"/>
                    <a:pt x="217805" y="0"/>
                  </a:cubicBezTo>
                  <a:lnTo>
                    <a:pt x="21404326" y="0"/>
                  </a:lnTo>
                  <a:cubicBezTo>
                    <a:pt x="21524595" y="0"/>
                    <a:pt x="21622131" y="97536"/>
                    <a:pt x="21622131" y="217805"/>
                  </a:cubicBezTo>
                  <a:lnTo>
                    <a:pt x="21622131" y="1088771"/>
                  </a:lnTo>
                  <a:cubicBezTo>
                    <a:pt x="21622131" y="1209040"/>
                    <a:pt x="21524595" y="1306576"/>
                    <a:pt x="21404326" y="1306576"/>
                  </a:cubicBezTo>
                  <a:lnTo>
                    <a:pt x="217805" y="1306576"/>
                  </a:lnTo>
                  <a:cubicBezTo>
                    <a:pt x="97536" y="1306576"/>
                    <a:pt x="0" y="1209040"/>
                    <a:pt x="0" y="10887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400108" y="2969533"/>
            <a:ext cx="1935509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CLASSIFY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02285" y="2928356"/>
            <a:ext cx="10514714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Photo + metadata → likely material category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4824862" y="2882608"/>
            <a:ext cx="1715843" cy="521618"/>
            <a:chOff x="0" y="0"/>
            <a:chExt cx="2287791" cy="6954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87778" cy="695579"/>
            </a:xfrm>
            <a:custGeom>
              <a:avLst/>
              <a:gdLst/>
              <a:ahLst/>
              <a:cxnLst/>
              <a:rect l="l" t="t" r="r" b="b"/>
              <a:pathLst>
                <a:path w="2287778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171827" y="0"/>
                  </a:lnTo>
                  <a:cubicBezTo>
                    <a:pt x="2235835" y="0"/>
                    <a:pt x="2287778" y="51943"/>
                    <a:pt x="2287778" y="115951"/>
                  </a:cubicBezTo>
                  <a:lnTo>
                    <a:pt x="2287778" y="579628"/>
                  </a:lnTo>
                  <a:cubicBezTo>
                    <a:pt x="2287778" y="643636"/>
                    <a:pt x="2235835" y="695579"/>
                    <a:pt x="2171827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2EDDE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4893500" y="2985564"/>
            <a:ext cx="1578569" cy="274539"/>
            <a:chOff x="0" y="0"/>
            <a:chExt cx="2104758" cy="3660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04764" cy="366046"/>
            </a:xfrm>
            <a:custGeom>
              <a:avLst/>
              <a:gdLst/>
              <a:ahLst/>
              <a:cxnLst/>
              <a:rect l="l" t="t" r="r" b="b"/>
              <a:pathLst>
                <a:path w="2104764" h="366046">
                  <a:moveTo>
                    <a:pt x="0" y="0"/>
                  </a:moveTo>
                  <a:lnTo>
                    <a:pt x="2104764" y="0"/>
                  </a:lnTo>
                  <a:lnTo>
                    <a:pt x="2104764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037" b="-62039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2104758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181F1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MVP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19975" y="3902583"/>
            <a:ext cx="16216598" cy="979932"/>
            <a:chOff x="0" y="0"/>
            <a:chExt cx="21622131" cy="13065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622131" cy="1306576"/>
            </a:xfrm>
            <a:custGeom>
              <a:avLst/>
              <a:gdLst/>
              <a:ahLst/>
              <a:cxnLst/>
              <a:rect l="l" t="t" r="r" b="b"/>
              <a:pathLst>
                <a:path w="21622131" h="1306576">
                  <a:moveTo>
                    <a:pt x="0" y="217805"/>
                  </a:moveTo>
                  <a:cubicBezTo>
                    <a:pt x="0" y="97536"/>
                    <a:pt x="97536" y="0"/>
                    <a:pt x="217805" y="0"/>
                  </a:cubicBezTo>
                  <a:lnTo>
                    <a:pt x="21404326" y="0"/>
                  </a:lnTo>
                  <a:cubicBezTo>
                    <a:pt x="21524595" y="0"/>
                    <a:pt x="21622131" y="97536"/>
                    <a:pt x="21622131" y="217805"/>
                  </a:cubicBezTo>
                  <a:lnTo>
                    <a:pt x="21622131" y="1088771"/>
                  </a:lnTo>
                  <a:cubicBezTo>
                    <a:pt x="21622131" y="1209040"/>
                    <a:pt x="21524595" y="1306576"/>
                    <a:pt x="21404326" y="1306576"/>
                  </a:cubicBezTo>
                  <a:lnTo>
                    <a:pt x="217805" y="1306576"/>
                  </a:lnTo>
                  <a:cubicBezTo>
                    <a:pt x="97536" y="1306576"/>
                    <a:pt x="0" y="1209040"/>
                    <a:pt x="0" y="10887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400108" y="4204935"/>
            <a:ext cx="1935509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ASSESS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02285" y="4163758"/>
            <a:ext cx="10514714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Condition indicators + human verification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4824862" y="4118019"/>
            <a:ext cx="1715843" cy="521618"/>
            <a:chOff x="0" y="0"/>
            <a:chExt cx="2287791" cy="6954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87778" cy="695579"/>
            </a:xfrm>
            <a:custGeom>
              <a:avLst/>
              <a:gdLst/>
              <a:ahLst/>
              <a:cxnLst/>
              <a:rect l="l" t="t" r="r" b="b"/>
              <a:pathLst>
                <a:path w="2287778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171827" y="0"/>
                  </a:lnTo>
                  <a:cubicBezTo>
                    <a:pt x="2235835" y="0"/>
                    <a:pt x="2287778" y="51943"/>
                    <a:pt x="2287778" y="115951"/>
                  </a:cubicBezTo>
                  <a:lnTo>
                    <a:pt x="2287778" y="579628"/>
                  </a:lnTo>
                  <a:cubicBezTo>
                    <a:pt x="2287778" y="643636"/>
                    <a:pt x="2235835" y="695579"/>
                    <a:pt x="2171827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2EDDE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4893500" y="4220966"/>
            <a:ext cx="1578569" cy="274539"/>
            <a:chOff x="0" y="0"/>
            <a:chExt cx="2104758" cy="3660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04764" cy="366046"/>
            </a:xfrm>
            <a:custGeom>
              <a:avLst/>
              <a:gdLst/>
              <a:ahLst/>
              <a:cxnLst/>
              <a:rect l="l" t="t" r="r" b="b"/>
              <a:pathLst>
                <a:path w="2104764" h="366046">
                  <a:moveTo>
                    <a:pt x="0" y="0"/>
                  </a:moveTo>
                  <a:lnTo>
                    <a:pt x="2104764" y="0"/>
                  </a:lnTo>
                  <a:lnTo>
                    <a:pt x="2104764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037" b="-62039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2104758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181F1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MVP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19975" y="5137985"/>
            <a:ext cx="16216598" cy="979932"/>
            <a:chOff x="0" y="0"/>
            <a:chExt cx="21622131" cy="130657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622131" cy="1306576"/>
            </a:xfrm>
            <a:custGeom>
              <a:avLst/>
              <a:gdLst/>
              <a:ahLst/>
              <a:cxnLst/>
              <a:rect l="l" t="t" r="r" b="b"/>
              <a:pathLst>
                <a:path w="21622131" h="1306576">
                  <a:moveTo>
                    <a:pt x="0" y="217805"/>
                  </a:moveTo>
                  <a:cubicBezTo>
                    <a:pt x="0" y="97536"/>
                    <a:pt x="97536" y="0"/>
                    <a:pt x="217805" y="0"/>
                  </a:cubicBezTo>
                  <a:lnTo>
                    <a:pt x="21404326" y="0"/>
                  </a:lnTo>
                  <a:cubicBezTo>
                    <a:pt x="21524595" y="0"/>
                    <a:pt x="21622131" y="97536"/>
                    <a:pt x="21622131" y="217805"/>
                  </a:cubicBezTo>
                  <a:lnTo>
                    <a:pt x="21622131" y="1088771"/>
                  </a:lnTo>
                  <a:cubicBezTo>
                    <a:pt x="21622131" y="1209040"/>
                    <a:pt x="21524595" y="1306576"/>
                    <a:pt x="21404326" y="1306576"/>
                  </a:cubicBezTo>
                  <a:lnTo>
                    <a:pt x="217805" y="1306576"/>
                  </a:lnTo>
                  <a:cubicBezTo>
                    <a:pt x="97536" y="1306576"/>
                    <a:pt x="0" y="1209040"/>
                    <a:pt x="0" y="10887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400108" y="5440347"/>
            <a:ext cx="1935509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IDEATE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02285" y="5399161"/>
            <a:ext cx="10514714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Properties + constraints → feasible second-life concepts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4824862" y="5353421"/>
            <a:ext cx="1715843" cy="521618"/>
            <a:chOff x="0" y="0"/>
            <a:chExt cx="2287791" cy="69549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287778" cy="695579"/>
            </a:xfrm>
            <a:custGeom>
              <a:avLst/>
              <a:gdLst/>
              <a:ahLst/>
              <a:cxnLst/>
              <a:rect l="l" t="t" r="r" b="b"/>
              <a:pathLst>
                <a:path w="2287778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171827" y="0"/>
                  </a:lnTo>
                  <a:cubicBezTo>
                    <a:pt x="2235835" y="0"/>
                    <a:pt x="2287778" y="51943"/>
                    <a:pt x="2287778" y="115951"/>
                  </a:cubicBezTo>
                  <a:lnTo>
                    <a:pt x="2287778" y="579628"/>
                  </a:lnTo>
                  <a:cubicBezTo>
                    <a:pt x="2287778" y="643636"/>
                    <a:pt x="2235835" y="695579"/>
                    <a:pt x="2171827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2EDDE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4893500" y="5456377"/>
            <a:ext cx="1578569" cy="274539"/>
            <a:chOff x="0" y="0"/>
            <a:chExt cx="2104758" cy="3660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04764" cy="366046"/>
            </a:xfrm>
            <a:custGeom>
              <a:avLst/>
              <a:gdLst/>
              <a:ahLst/>
              <a:cxnLst/>
              <a:rect l="l" t="t" r="r" b="b"/>
              <a:pathLst>
                <a:path w="2104764" h="366046">
                  <a:moveTo>
                    <a:pt x="0" y="0"/>
                  </a:moveTo>
                  <a:lnTo>
                    <a:pt x="2104764" y="0"/>
                  </a:lnTo>
                  <a:lnTo>
                    <a:pt x="2104764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037" b="-62039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104758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181F1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MVP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19975" y="6373397"/>
            <a:ext cx="16216598" cy="979932"/>
            <a:chOff x="0" y="0"/>
            <a:chExt cx="21622131" cy="130657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622131" cy="1306576"/>
            </a:xfrm>
            <a:custGeom>
              <a:avLst/>
              <a:gdLst/>
              <a:ahLst/>
              <a:cxnLst/>
              <a:rect l="l" t="t" r="r" b="b"/>
              <a:pathLst>
                <a:path w="21622131" h="1306576">
                  <a:moveTo>
                    <a:pt x="0" y="217805"/>
                  </a:moveTo>
                  <a:cubicBezTo>
                    <a:pt x="0" y="97536"/>
                    <a:pt x="97536" y="0"/>
                    <a:pt x="217805" y="0"/>
                  </a:cubicBezTo>
                  <a:lnTo>
                    <a:pt x="21404326" y="0"/>
                  </a:lnTo>
                  <a:cubicBezTo>
                    <a:pt x="21524595" y="0"/>
                    <a:pt x="21622131" y="97536"/>
                    <a:pt x="21622131" y="217805"/>
                  </a:cubicBezTo>
                  <a:lnTo>
                    <a:pt x="21622131" y="1088771"/>
                  </a:lnTo>
                  <a:cubicBezTo>
                    <a:pt x="21622131" y="1209040"/>
                    <a:pt x="21524595" y="1306576"/>
                    <a:pt x="21404326" y="1306576"/>
                  </a:cubicBezTo>
                  <a:lnTo>
                    <a:pt x="217805" y="1306576"/>
                  </a:lnTo>
                  <a:cubicBezTo>
                    <a:pt x="97536" y="1306576"/>
                    <a:pt x="0" y="1209040"/>
                    <a:pt x="0" y="10887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1400108" y="6675749"/>
            <a:ext cx="1935509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MATCH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802285" y="6634572"/>
            <a:ext cx="10514714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Material availability ↔ student project requirements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4824862" y="6588824"/>
            <a:ext cx="1715843" cy="521618"/>
            <a:chOff x="0" y="0"/>
            <a:chExt cx="2287791" cy="69549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287778" cy="695579"/>
            </a:xfrm>
            <a:custGeom>
              <a:avLst/>
              <a:gdLst/>
              <a:ahLst/>
              <a:cxnLst/>
              <a:rect l="l" t="t" r="r" b="b"/>
              <a:pathLst>
                <a:path w="2287778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171827" y="0"/>
                  </a:lnTo>
                  <a:cubicBezTo>
                    <a:pt x="2235835" y="0"/>
                    <a:pt x="2287778" y="51943"/>
                    <a:pt x="2287778" y="115951"/>
                  </a:cubicBezTo>
                  <a:lnTo>
                    <a:pt x="2287778" y="579628"/>
                  </a:lnTo>
                  <a:cubicBezTo>
                    <a:pt x="2287778" y="643636"/>
                    <a:pt x="2235835" y="695579"/>
                    <a:pt x="2171827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2EDDE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4893500" y="6691779"/>
            <a:ext cx="1578569" cy="274539"/>
            <a:chOff x="0" y="0"/>
            <a:chExt cx="2104758" cy="36605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04764" cy="366046"/>
            </a:xfrm>
            <a:custGeom>
              <a:avLst/>
              <a:gdLst/>
              <a:ahLst/>
              <a:cxnLst/>
              <a:rect l="l" t="t" r="r" b="b"/>
              <a:pathLst>
                <a:path w="2104764" h="366046">
                  <a:moveTo>
                    <a:pt x="0" y="0"/>
                  </a:moveTo>
                  <a:lnTo>
                    <a:pt x="2104764" y="0"/>
                  </a:lnTo>
                  <a:lnTo>
                    <a:pt x="2104764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037" b="-62039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2104758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181F1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MVP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19975" y="7608799"/>
            <a:ext cx="16216598" cy="979932"/>
            <a:chOff x="0" y="0"/>
            <a:chExt cx="21622131" cy="130657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622131" cy="1306576"/>
            </a:xfrm>
            <a:custGeom>
              <a:avLst/>
              <a:gdLst/>
              <a:ahLst/>
              <a:cxnLst/>
              <a:rect l="l" t="t" r="r" b="b"/>
              <a:pathLst>
                <a:path w="21622131" h="1306576">
                  <a:moveTo>
                    <a:pt x="0" y="217805"/>
                  </a:moveTo>
                  <a:cubicBezTo>
                    <a:pt x="0" y="97536"/>
                    <a:pt x="97536" y="0"/>
                    <a:pt x="217805" y="0"/>
                  </a:cubicBezTo>
                  <a:lnTo>
                    <a:pt x="21404326" y="0"/>
                  </a:lnTo>
                  <a:cubicBezTo>
                    <a:pt x="21524595" y="0"/>
                    <a:pt x="21622131" y="97536"/>
                    <a:pt x="21622131" y="217805"/>
                  </a:cubicBezTo>
                  <a:lnTo>
                    <a:pt x="21622131" y="1088771"/>
                  </a:lnTo>
                  <a:cubicBezTo>
                    <a:pt x="21622131" y="1209040"/>
                    <a:pt x="21524595" y="1306576"/>
                    <a:pt x="21404326" y="1306576"/>
                  </a:cubicBezTo>
                  <a:lnTo>
                    <a:pt x="217805" y="1306576"/>
                  </a:lnTo>
                  <a:cubicBezTo>
                    <a:pt x="97536" y="1306576"/>
                    <a:pt x="0" y="1209040"/>
                    <a:pt x="0" y="10887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1400108" y="7911151"/>
            <a:ext cx="1935509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FORECAST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802285" y="7869974"/>
            <a:ext cx="10514714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Demand + inventory optimization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4824862" y="7824235"/>
            <a:ext cx="1715843" cy="521618"/>
            <a:chOff x="0" y="0"/>
            <a:chExt cx="2287791" cy="69549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287778" cy="695579"/>
            </a:xfrm>
            <a:custGeom>
              <a:avLst/>
              <a:gdLst/>
              <a:ahLst/>
              <a:cxnLst/>
              <a:rect l="l" t="t" r="r" b="b"/>
              <a:pathLst>
                <a:path w="2287778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171827" y="0"/>
                  </a:lnTo>
                  <a:cubicBezTo>
                    <a:pt x="2235835" y="0"/>
                    <a:pt x="2287778" y="51943"/>
                    <a:pt x="2287778" y="115951"/>
                  </a:cubicBezTo>
                  <a:lnTo>
                    <a:pt x="2287778" y="579628"/>
                  </a:lnTo>
                  <a:cubicBezTo>
                    <a:pt x="2287778" y="643636"/>
                    <a:pt x="2235835" y="695579"/>
                    <a:pt x="2171827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2EDDE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4893500" y="7927181"/>
            <a:ext cx="1578569" cy="274539"/>
            <a:chOff x="0" y="0"/>
            <a:chExt cx="2104758" cy="36605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104764" cy="366046"/>
            </a:xfrm>
            <a:custGeom>
              <a:avLst/>
              <a:gdLst/>
              <a:ahLst/>
              <a:cxnLst/>
              <a:rect l="l" t="t" r="r" b="b"/>
              <a:pathLst>
                <a:path w="2104764" h="366046">
                  <a:moveTo>
                    <a:pt x="0" y="0"/>
                  </a:moveTo>
                  <a:lnTo>
                    <a:pt x="2104764" y="0"/>
                  </a:lnTo>
                  <a:lnTo>
                    <a:pt x="2104764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037" b="-62039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2104758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181F1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LATER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29500" y="8991000"/>
            <a:ext cx="16197539" cy="480431"/>
            <a:chOff x="0" y="0"/>
            <a:chExt cx="21596718" cy="64057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1596731" cy="640588"/>
            </a:xfrm>
            <a:custGeom>
              <a:avLst/>
              <a:gdLst/>
              <a:ahLst/>
              <a:cxnLst/>
              <a:rect l="l" t="t" r="r" b="b"/>
              <a:pathLst>
                <a:path w="21596731" h="640588">
                  <a:moveTo>
                    <a:pt x="0" y="106807"/>
                  </a:moveTo>
                  <a:cubicBezTo>
                    <a:pt x="0" y="47752"/>
                    <a:pt x="47752" y="0"/>
                    <a:pt x="106807" y="0"/>
                  </a:cubicBezTo>
                  <a:lnTo>
                    <a:pt x="21489924" y="0"/>
                  </a:lnTo>
                  <a:cubicBezTo>
                    <a:pt x="21548852" y="0"/>
                    <a:pt x="21596731" y="47752"/>
                    <a:pt x="21596731" y="106807"/>
                  </a:cubicBezTo>
                  <a:lnTo>
                    <a:pt x="21596731" y="533781"/>
                  </a:lnTo>
                  <a:cubicBezTo>
                    <a:pt x="21596731" y="592709"/>
                    <a:pt x="21548979" y="640588"/>
                    <a:pt x="21489924" y="640588"/>
                  </a:cubicBezTo>
                  <a:lnTo>
                    <a:pt x="106807" y="640588"/>
                  </a:lnTo>
                  <a:cubicBezTo>
                    <a:pt x="47752" y="640588"/>
                    <a:pt x="0" y="592836"/>
                    <a:pt x="0" y="533781"/>
                  </a:cubicBezTo>
                  <a:close/>
                </a:path>
              </a:pathLst>
            </a:custGeom>
            <a:solidFill>
              <a:srgbClr val="E0F0E4"/>
            </a:solidFill>
          </p:spPr>
        </p:sp>
      </p:grpSp>
      <p:sp>
        <p:nvSpPr>
          <p:cNvPr id="56" name="TextBox 56"/>
          <p:cNvSpPr txBox="1"/>
          <p:nvPr/>
        </p:nvSpPr>
        <p:spPr>
          <a:xfrm>
            <a:off x="1400108" y="9109577"/>
            <a:ext cx="15456332" cy="22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MVP = rules + simple vision model + structured prompts + human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15756" y="484994"/>
            <a:ext cx="7494832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07 / STUDENT ENGINE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756" y="10066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Game Design turns materials into challenges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3207" y="1967484"/>
            <a:ext cx="1600540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Students compete by creating real value from real materials — not by collecting meaningless points.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68137" y="9658645"/>
            <a:ext cx="70010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5756" y="9681905"/>
            <a:ext cx="5161293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RE:FORM  /  AIU  /  GREEN LOOP 2026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9500" y="2745343"/>
            <a:ext cx="5765225" cy="5833853"/>
            <a:chOff x="0" y="0"/>
            <a:chExt cx="7686967" cy="7778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686929" cy="7778496"/>
            </a:xfrm>
            <a:custGeom>
              <a:avLst/>
              <a:gdLst/>
              <a:ahLst/>
              <a:cxnLst/>
              <a:rect l="l" t="t" r="r" b="b"/>
              <a:pathLst>
                <a:path w="7686929" h="7778496">
                  <a:moveTo>
                    <a:pt x="0" y="1281176"/>
                  </a:moveTo>
                  <a:cubicBezTo>
                    <a:pt x="0" y="573659"/>
                    <a:pt x="573659" y="0"/>
                    <a:pt x="1281176" y="0"/>
                  </a:cubicBezTo>
                  <a:lnTo>
                    <a:pt x="6405753" y="0"/>
                  </a:lnTo>
                  <a:cubicBezTo>
                    <a:pt x="7113270" y="0"/>
                    <a:pt x="7686929" y="573659"/>
                    <a:pt x="7686929" y="1281176"/>
                  </a:cubicBezTo>
                  <a:lnTo>
                    <a:pt x="7686929" y="6497320"/>
                  </a:lnTo>
                  <a:cubicBezTo>
                    <a:pt x="7686929" y="7204837"/>
                    <a:pt x="7113270" y="7778496"/>
                    <a:pt x="6405753" y="7778496"/>
                  </a:cubicBezTo>
                  <a:lnTo>
                    <a:pt x="1281176" y="7778496"/>
                  </a:lnTo>
                  <a:cubicBezTo>
                    <a:pt x="573659" y="7778496"/>
                    <a:pt x="0" y="7204837"/>
                    <a:pt x="0" y="6497320"/>
                  </a:cubicBezTo>
                  <a:close/>
                </a:path>
              </a:pathLst>
            </a:custGeom>
            <a:solidFill>
              <a:srgbClr val="181F1C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441304" y="3225784"/>
            <a:ext cx="2264912" cy="521618"/>
            <a:chOff x="0" y="0"/>
            <a:chExt cx="3019882" cy="6954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19933" cy="695579"/>
            </a:xfrm>
            <a:custGeom>
              <a:avLst/>
              <a:gdLst/>
              <a:ahLst/>
              <a:cxnLst/>
              <a:rect l="l" t="t" r="r" b="b"/>
              <a:pathLst>
                <a:path w="3019933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903982" y="0"/>
                  </a:lnTo>
                  <a:cubicBezTo>
                    <a:pt x="2967990" y="0"/>
                    <a:pt x="3019933" y="51943"/>
                    <a:pt x="3019933" y="115951"/>
                  </a:cubicBezTo>
                  <a:lnTo>
                    <a:pt x="3019933" y="579628"/>
                  </a:lnTo>
                  <a:cubicBezTo>
                    <a:pt x="3019933" y="643636"/>
                    <a:pt x="2967990" y="695579"/>
                    <a:pt x="2903982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2EDD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509941" y="3328730"/>
            <a:ext cx="2127637" cy="274539"/>
            <a:chOff x="0" y="0"/>
            <a:chExt cx="2836850" cy="36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36854" cy="366046"/>
            </a:xfrm>
            <a:custGeom>
              <a:avLst/>
              <a:gdLst/>
              <a:ahLst/>
              <a:cxnLst/>
              <a:rect l="l" t="t" r="r" b="b"/>
              <a:pathLst>
                <a:path w="2836854" h="366046">
                  <a:moveTo>
                    <a:pt x="0" y="0"/>
                  </a:moveTo>
                  <a:lnTo>
                    <a:pt x="2836854" y="0"/>
                  </a:lnTo>
                  <a:lnTo>
                    <a:pt x="2836854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007" b="-10100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2836850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181F1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CHALLENGE #001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68736" y="4204935"/>
            <a:ext cx="4818126" cy="1089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GIVE THE BANNER</a:t>
            </a:r>
          </a:p>
          <a:p>
            <a:pPr algn="l">
              <a:lnSpc>
                <a:spcPts val="4143"/>
              </a:lnSpc>
            </a:pPr>
            <a:r>
              <a:rPr lang="en-US" sz="3452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A SECOND LIFE.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8736" y="5810964"/>
            <a:ext cx="4680852" cy="1130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E0F0E4"/>
                </a:solidFill>
                <a:latin typeface="Aptos"/>
                <a:ea typeface="Aptos"/>
                <a:cs typeface="Aptos"/>
                <a:sym typeface="Aptos"/>
              </a:rPr>
              <a:t>30 m² available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E0F0E4"/>
                </a:solidFill>
                <a:latin typeface="Aptos"/>
                <a:ea typeface="Aptos"/>
                <a:cs typeface="Aptos"/>
                <a:sym typeface="Aptos"/>
              </a:rPr>
              <a:t>Constraint: ≤20% new material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E0F0E4"/>
                </a:solidFill>
                <a:latin typeface="Aptos"/>
                <a:ea typeface="Aptos"/>
                <a:cs typeface="Aptos"/>
                <a:sym typeface="Aptos"/>
              </a:rPr>
              <a:t>Time: 14 days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68736" y="7489831"/>
            <a:ext cx="2004146" cy="247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IMPACT SCORE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68736" y="7911151"/>
            <a:ext cx="4680852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Material use • function • circularity • creativity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334269" y="2735809"/>
            <a:ext cx="4480246" cy="2078069"/>
            <a:chOff x="0" y="0"/>
            <a:chExt cx="5973661" cy="277075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973699" cy="2770759"/>
            </a:xfrm>
            <a:custGeom>
              <a:avLst/>
              <a:gdLst/>
              <a:ahLst/>
              <a:cxnLst/>
              <a:rect l="l" t="t" r="r" b="b"/>
              <a:pathLst>
                <a:path w="5973699" h="2770759">
                  <a:moveTo>
                    <a:pt x="0" y="461772"/>
                  </a:moveTo>
                  <a:cubicBezTo>
                    <a:pt x="0" y="206756"/>
                    <a:pt x="206756" y="0"/>
                    <a:pt x="461772" y="0"/>
                  </a:cubicBezTo>
                  <a:lnTo>
                    <a:pt x="5511927" y="0"/>
                  </a:lnTo>
                  <a:cubicBezTo>
                    <a:pt x="5766943" y="0"/>
                    <a:pt x="5973699" y="206756"/>
                    <a:pt x="5973699" y="461772"/>
                  </a:cubicBezTo>
                  <a:lnTo>
                    <a:pt x="5973699" y="2308987"/>
                  </a:lnTo>
                  <a:cubicBezTo>
                    <a:pt x="5973699" y="2564003"/>
                    <a:pt x="5766943" y="2770759"/>
                    <a:pt x="5511927" y="2770759"/>
                  </a:cubicBezTo>
                  <a:lnTo>
                    <a:pt x="461772" y="2770759"/>
                  </a:lnTo>
                  <a:cubicBezTo>
                    <a:pt x="206756" y="2770759"/>
                    <a:pt x="0" y="2564003"/>
                    <a:pt x="0" y="23089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7673216" y="3010710"/>
            <a:ext cx="3802342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Missions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73216" y="3614690"/>
            <a:ext cx="3802342" cy="97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Real material + real constraint + real deadline.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207250" y="2735809"/>
            <a:ext cx="5029324" cy="2078069"/>
            <a:chOff x="0" y="0"/>
            <a:chExt cx="6705765" cy="277075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705727" cy="2770759"/>
            </a:xfrm>
            <a:custGeom>
              <a:avLst/>
              <a:gdLst/>
              <a:ahLst/>
              <a:cxnLst/>
              <a:rect l="l" t="t" r="r" b="b"/>
              <a:pathLst>
                <a:path w="6705727" h="2770759">
                  <a:moveTo>
                    <a:pt x="0" y="461772"/>
                  </a:moveTo>
                  <a:cubicBezTo>
                    <a:pt x="0" y="206756"/>
                    <a:pt x="206756" y="0"/>
                    <a:pt x="461772" y="0"/>
                  </a:cubicBezTo>
                  <a:lnTo>
                    <a:pt x="6243955" y="0"/>
                  </a:lnTo>
                  <a:cubicBezTo>
                    <a:pt x="6498971" y="0"/>
                    <a:pt x="6705727" y="206756"/>
                    <a:pt x="6705727" y="461772"/>
                  </a:cubicBezTo>
                  <a:lnTo>
                    <a:pt x="6705727" y="2308987"/>
                  </a:lnTo>
                  <a:cubicBezTo>
                    <a:pt x="6705727" y="2564003"/>
                    <a:pt x="6498971" y="2770759"/>
                    <a:pt x="6243955" y="2770759"/>
                  </a:cubicBezTo>
                  <a:lnTo>
                    <a:pt x="461772" y="2770759"/>
                  </a:lnTo>
                  <a:cubicBezTo>
                    <a:pt x="206756" y="2770759"/>
                    <a:pt x="0" y="2564003"/>
                    <a:pt x="0" y="23089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2546206" y="3010710"/>
            <a:ext cx="4351411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Teams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546206" y="3614690"/>
            <a:ext cx="4351411" cy="97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Interdisciplinary student teams, clubs and faculty.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334269" y="5179171"/>
            <a:ext cx="4480246" cy="2078069"/>
            <a:chOff x="0" y="0"/>
            <a:chExt cx="5973661" cy="2770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973699" cy="2770759"/>
            </a:xfrm>
            <a:custGeom>
              <a:avLst/>
              <a:gdLst/>
              <a:ahLst/>
              <a:cxnLst/>
              <a:rect l="l" t="t" r="r" b="b"/>
              <a:pathLst>
                <a:path w="5973699" h="2770759">
                  <a:moveTo>
                    <a:pt x="0" y="461772"/>
                  </a:moveTo>
                  <a:cubicBezTo>
                    <a:pt x="0" y="206756"/>
                    <a:pt x="206756" y="0"/>
                    <a:pt x="461772" y="0"/>
                  </a:cubicBezTo>
                  <a:lnTo>
                    <a:pt x="5511927" y="0"/>
                  </a:lnTo>
                  <a:cubicBezTo>
                    <a:pt x="5766943" y="0"/>
                    <a:pt x="5973699" y="206756"/>
                    <a:pt x="5973699" y="461772"/>
                  </a:cubicBezTo>
                  <a:lnTo>
                    <a:pt x="5973699" y="2308987"/>
                  </a:lnTo>
                  <a:cubicBezTo>
                    <a:pt x="5973699" y="2564003"/>
                    <a:pt x="5766943" y="2770759"/>
                    <a:pt x="5511927" y="2770759"/>
                  </a:cubicBezTo>
                  <a:lnTo>
                    <a:pt x="461772" y="2770759"/>
                  </a:lnTo>
                  <a:cubicBezTo>
                    <a:pt x="206756" y="2770759"/>
                    <a:pt x="0" y="2564003"/>
                    <a:pt x="0" y="23089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7673216" y="5454072"/>
            <a:ext cx="3802342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Leaderboards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73216" y="6058043"/>
            <a:ext cx="3802342" cy="97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Rank verified impact, not participation volume.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2207250" y="5179171"/>
            <a:ext cx="5029324" cy="2078069"/>
            <a:chOff x="0" y="0"/>
            <a:chExt cx="6705765" cy="277075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705727" cy="2770759"/>
            </a:xfrm>
            <a:custGeom>
              <a:avLst/>
              <a:gdLst/>
              <a:ahLst/>
              <a:cxnLst/>
              <a:rect l="l" t="t" r="r" b="b"/>
              <a:pathLst>
                <a:path w="6705727" h="2770759">
                  <a:moveTo>
                    <a:pt x="0" y="461772"/>
                  </a:moveTo>
                  <a:cubicBezTo>
                    <a:pt x="0" y="206756"/>
                    <a:pt x="206756" y="0"/>
                    <a:pt x="461772" y="0"/>
                  </a:cubicBezTo>
                  <a:lnTo>
                    <a:pt x="6243955" y="0"/>
                  </a:lnTo>
                  <a:cubicBezTo>
                    <a:pt x="6498971" y="0"/>
                    <a:pt x="6705727" y="206756"/>
                    <a:pt x="6705727" y="461772"/>
                  </a:cubicBezTo>
                  <a:lnTo>
                    <a:pt x="6705727" y="2308987"/>
                  </a:lnTo>
                  <a:cubicBezTo>
                    <a:pt x="6705727" y="2564003"/>
                    <a:pt x="6498971" y="2770759"/>
                    <a:pt x="6243955" y="2770759"/>
                  </a:cubicBezTo>
                  <a:lnTo>
                    <a:pt x="461772" y="2770759"/>
                  </a:lnTo>
                  <a:cubicBezTo>
                    <a:pt x="206756" y="2770759"/>
                    <a:pt x="0" y="2564003"/>
                    <a:pt x="0" y="23089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12546206" y="5454072"/>
            <a:ext cx="4351411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Achievements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546206" y="6058043"/>
            <a:ext cx="4351411" cy="97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Recognition for reuse, innovation, teamwork and implementation.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7343794" y="7714421"/>
            <a:ext cx="9883245" cy="521618"/>
            <a:chOff x="0" y="0"/>
            <a:chExt cx="13177660" cy="69549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177647" cy="695579"/>
            </a:xfrm>
            <a:custGeom>
              <a:avLst/>
              <a:gdLst/>
              <a:ahLst/>
              <a:cxnLst/>
              <a:rect l="l" t="t" r="r" b="b"/>
              <a:pathLst>
                <a:path w="13177647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13061696" y="0"/>
                  </a:lnTo>
                  <a:cubicBezTo>
                    <a:pt x="13125704" y="0"/>
                    <a:pt x="13177647" y="51943"/>
                    <a:pt x="13177647" y="115951"/>
                  </a:cubicBezTo>
                  <a:lnTo>
                    <a:pt x="13177647" y="579628"/>
                  </a:lnTo>
                  <a:cubicBezTo>
                    <a:pt x="13177647" y="643636"/>
                    <a:pt x="13125704" y="695579"/>
                    <a:pt x="13061696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E0F0E4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7412431" y="7817368"/>
            <a:ext cx="9745970" cy="274539"/>
            <a:chOff x="0" y="0"/>
            <a:chExt cx="12994627" cy="36605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994632" cy="366046"/>
            </a:xfrm>
            <a:custGeom>
              <a:avLst/>
              <a:gdLst/>
              <a:ahLst/>
              <a:cxnLst/>
              <a:rect l="l" t="t" r="r" b="b"/>
              <a:pathLst>
                <a:path w="12994632" h="366046">
                  <a:moveTo>
                    <a:pt x="0" y="0"/>
                  </a:moveTo>
                  <a:lnTo>
                    <a:pt x="12994632" y="0"/>
                  </a:lnTo>
                  <a:lnTo>
                    <a:pt x="12994632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1717" b="-641719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12994627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1F70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WINNING CONCEPTS → PROTOTYPE → REAL USE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15756" y="484994"/>
            <a:ext cx="7494832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08 / BUSINESS MODEL CANVAS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756" y="10066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RE:FORM is a campus operating service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3207" y="1967484"/>
            <a:ext cx="1600540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Primary customer: university administration / sustainability / facilities. Secondary customers: sponsors and production partners.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68137" y="9658645"/>
            <a:ext cx="70010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5756" y="9681905"/>
            <a:ext cx="5161293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RE:FORM  /  AIU  /  GREEN LOOP 2026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78789" y="2667181"/>
            <a:ext cx="5166589" cy="1762363"/>
            <a:chOff x="0" y="0"/>
            <a:chExt cx="6888785" cy="23498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88861" cy="2349881"/>
            </a:xfrm>
            <a:custGeom>
              <a:avLst/>
              <a:gdLst/>
              <a:ahLst/>
              <a:cxnLst/>
              <a:rect l="l" t="t" r="r" b="b"/>
              <a:pathLst>
                <a:path w="6888861" h="2349881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lnTo>
                    <a:pt x="6497193" y="0"/>
                  </a:lnTo>
                  <a:cubicBezTo>
                    <a:pt x="6713474" y="0"/>
                    <a:pt x="6888861" y="175387"/>
                    <a:pt x="6888861" y="391668"/>
                  </a:cubicBezTo>
                  <a:lnTo>
                    <a:pt x="6888861" y="1958213"/>
                  </a:lnTo>
                  <a:cubicBezTo>
                    <a:pt x="6888861" y="2174494"/>
                    <a:pt x="6713474" y="2349881"/>
                    <a:pt x="6497193" y="2349881"/>
                  </a:cubicBezTo>
                  <a:lnTo>
                    <a:pt x="391668" y="2349881"/>
                  </a:lnTo>
                  <a:cubicBezTo>
                    <a:pt x="175387" y="2349754"/>
                    <a:pt x="0" y="2174494"/>
                    <a:pt x="0" y="195821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290285" y="2891371"/>
            <a:ext cx="4543587" cy="27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CUSTOMER SEGMENTS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0285" y="3353876"/>
            <a:ext cx="4543587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Universities • sustainability teams • facilities • innovation units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538112" y="2667181"/>
            <a:ext cx="5166589" cy="1762363"/>
            <a:chOff x="0" y="0"/>
            <a:chExt cx="6888785" cy="234981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88861" cy="2349881"/>
            </a:xfrm>
            <a:custGeom>
              <a:avLst/>
              <a:gdLst/>
              <a:ahLst/>
              <a:cxnLst/>
              <a:rect l="l" t="t" r="r" b="b"/>
              <a:pathLst>
                <a:path w="6888861" h="2349881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lnTo>
                    <a:pt x="6497193" y="0"/>
                  </a:lnTo>
                  <a:cubicBezTo>
                    <a:pt x="6713474" y="0"/>
                    <a:pt x="6888861" y="175387"/>
                    <a:pt x="6888861" y="391668"/>
                  </a:cubicBezTo>
                  <a:lnTo>
                    <a:pt x="6888861" y="1958213"/>
                  </a:lnTo>
                  <a:cubicBezTo>
                    <a:pt x="6888861" y="2174494"/>
                    <a:pt x="6713474" y="2349881"/>
                    <a:pt x="6497193" y="2349881"/>
                  </a:cubicBezTo>
                  <a:lnTo>
                    <a:pt x="391668" y="2349881"/>
                  </a:lnTo>
                  <a:cubicBezTo>
                    <a:pt x="175387" y="2349754"/>
                    <a:pt x="0" y="2174494"/>
                    <a:pt x="0" y="195821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6849618" y="2891371"/>
            <a:ext cx="4543587" cy="27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VALUE PROPOSITIONS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49618" y="3353876"/>
            <a:ext cx="4543587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Reuse surplus • reduce value loss • support student making • measure impact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097436" y="2667181"/>
            <a:ext cx="5166589" cy="1762363"/>
            <a:chOff x="0" y="0"/>
            <a:chExt cx="6888785" cy="234981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88861" cy="2349881"/>
            </a:xfrm>
            <a:custGeom>
              <a:avLst/>
              <a:gdLst/>
              <a:ahLst/>
              <a:cxnLst/>
              <a:rect l="l" t="t" r="r" b="b"/>
              <a:pathLst>
                <a:path w="6888861" h="2349881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lnTo>
                    <a:pt x="6497193" y="0"/>
                  </a:lnTo>
                  <a:cubicBezTo>
                    <a:pt x="6713474" y="0"/>
                    <a:pt x="6888861" y="175387"/>
                    <a:pt x="6888861" y="391668"/>
                  </a:cubicBezTo>
                  <a:lnTo>
                    <a:pt x="6888861" y="1958213"/>
                  </a:lnTo>
                  <a:cubicBezTo>
                    <a:pt x="6888861" y="2174494"/>
                    <a:pt x="6713474" y="2349881"/>
                    <a:pt x="6497193" y="2349881"/>
                  </a:cubicBezTo>
                  <a:lnTo>
                    <a:pt x="391668" y="2349881"/>
                  </a:lnTo>
                  <a:cubicBezTo>
                    <a:pt x="175387" y="2349754"/>
                    <a:pt x="0" y="2174494"/>
                    <a:pt x="0" y="195821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2408941" y="2891371"/>
            <a:ext cx="4543587" cy="27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CHANNELS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08941" y="3353876"/>
            <a:ext cx="4543587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University leadership • sustainability • procurement • innovation programs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78789" y="4794818"/>
            <a:ext cx="5166589" cy="1762363"/>
            <a:chOff x="0" y="0"/>
            <a:chExt cx="6888785" cy="234981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888861" cy="2349881"/>
            </a:xfrm>
            <a:custGeom>
              <a:avLst/>
              <a:gdLst/>
              <a:ahLst/>
              <a:cxnLst/>
              <a:rect l="l" t="t" r="r" b="b"/>
              <a:pathLst>
                <a:path w="6888861" h="2349881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lnTo>
                    <a:pt x="6497193" y="0"/>
                  </a:lnTo>
                  <a:cubicBezTo>
                    <a:pt x="6713474" y="0"/>
                    <a:pt x="6888861" y="175387"/>
                    <a:pt x="6888861" y="391668"/>
                  </a:cubicBezTo>
                  <a:lnTo>
                    <a:pt x="6888861" y="1958213"/>
                  </a:lnTo>
                  <a:cubicBezTo>
                    <a:pt x="6888861" y="2174494"/>
                    <a:pt x="6713474" y="2349881"/>
                    <a:pt x="6497193" y="2349881"/>
                  </a:cubicBezTo>
                  <a:lnTo>
                    <a:pt x="391668" y="2349881"/>
                  </a:lnTo>
                  <a:cubicBezTo>
                    <a:pt x="175387" y="2349754"/>
                    <a:pt x="0" y="2174494"/>
                    <a:pt x="0" y="195821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290285" y="5019018"/>
            <a:ext cx="4543587" cy="27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CUSTOMER RELATIONSHIPS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90285" y="5481523"/>
            <a:ext cx="4543587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Annual service • implementation support • reporting • challenge program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538112" y="4794818"/>
            <a:ext cx="5166589" cy="1762363"/>
            <a:chOff x="0" y="0"/>
            <a:chExt cx="6888785" cy="234981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888861" cy="2349881"/>
            </a:xfrm>
            <a:custGeom>
              <a:avLst/>
              <a:gdLst/>
              <a:ahLst/>
              <a:cxnLst/>
              <a:rect l="l" t="t" r="r" b="b"/>
              <a:pathLst>
                <a:path w="6888861" h="2349881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lnTo>
                    <a:pt x="6497193" y="0"/>
                  </a:lnTo>
                  <a:cubicBezTo>
                    <a:pt x="6713474" y="0"/>
                    <a:pt x="6888861" y="175387"/>
                    <a:pt x="6888861" y="391668"/>
                  </a:cubicBezTo>
                  <a:lnTo>
                    <a:pt x="6888861" y="1958213"/>
                  </a:lnTo>
                  <a:cubicBezTo>
                    <a:pt x="6888861" y="2174494"/>
                    <a:pt x="6713474" y="2349881"/>
                    <a:pt x="6497193" y="2349881"/>
                  </a:cubicBezTo>
                  <a:lnTo>
                    <a:pt x="391668" y="2349881"/>
                  </a:lnTo>
                  <a:cubicBezTo>
                    <a:pt x="175387" y="2349754"/>
                    <a:pt x="0" y="2174494"/>
                    <a:pt x="0" y="195821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6849618" y="5019018"/>
            <a:ext cx="4543587" cy="27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REVENUE STREAMS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49618" y="5481523"/>
            <a:ext cx="4543587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Setup fee • annual subscription • sponsored challenges • production margin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097436" y="4794818"/>
            <a:ext cx="5166589" cy="1762363"/>
            <a:chOff x="0" y="0"/>
            <a:chExt cx="6888785" cy="234981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888861" cy="2349881"/>
            </a:xfrm>
            <a:custGeom>
              <a:avLst/>
              <a:gdLst/>
              <a:ahLst/>
              <a:cxnLst/>
              <a:rect l="l" t="t" r="r" b="b"/>
              <a:pathLst>
                <a:path w="6888861" h="2349881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lnTo>
                    <a:pt x="6497193" y="0"/>
                  </a:lnTo>
                  <a:cubicBezTo>
                    <a:pt x="6713474" y="0"/>
                    <a:pt x="6888861" y="175387"/>
                    <a:pt x="6888861" y="391668"/>
                  </a:cubicBezTo>
                  <a:lnTo>
                    <a:pt x="6888861" y="1958213"/>
                  </a:lnTo>
                  <a:cubicBezTo>
                    <a:pt x="6888861" y="2174494"/>
                    <a:pt x="6713474" y="2349881"/>
                    <a:pt x="6497193" y="2349881"/>
                  </a:cubicBezTo>
                  <a:lnTo>
                    <a:pt x="391668" y="2349881"/>
                  </a:lnTo>
                  <a:cubicBezTo>
                    <a:pt x="175387" y="2349754"/>
                    <a:pt x="0" y="2174494"/>
                    <a:pt x="0" y="195821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2408941" y="5019018"/>
            <a:ext cx="4543587" cy="27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KEY RESOURCES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08941" y="5481523"/>
            <a:ext cx="4543587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Platform • material library • AI workflow • operating playbook • network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78789" y="6922465"/>
            <a:ext cx="5166589" cy="1762363"/>
            <a:chOff x="0" y="0"/>
            <a:chExt cx="6888785" cy="234981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888861" cy="2349881"/>
            </a:xfrm>
            <a:custGeom>
              <a:avLst/>
              <a:gdLst/>
              <a:ahLst/>
              <a:cxnLst/>
              <a:rect l="l" t="t" r="r" b="b"/>
              <a:pathLst>
                <a:path w="6888861" h="2349881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lnTo>
                    <a:pt x="6497193" y="0"/>
                  </a:lnTo>
                  <a:cubicBezTo>
                    <a:pt x="6713474" y="0"/>
                    <a:pt x="6888861" y="175387"/>
                    <a:pt x="6888861" y="391668"/>
                  </a:cubicBezTo>
                  <a:lnTo>
                    <a:pt x="6888861" y="1958213"/>
                  </a:lnTo>
                  <a:cubicBezTo>
                    <a:pt x="6888861" y="2174494"/>
                    <a:pt x="6713474" y="2349881"/>
                    <a:pt x="6497193" y="2349881"/>
                  </a:cubicBezTo>
                  <a:lnTo>
                    <a:pt x="391668" y="2349881"/>
                  </a:lnTo>
                  <a:cubicBezTo>
                    <a:pt x="175387" y="2349754"/>
                    <a:pt x="0" y="2174494"/>
                    <a:pt x="0" y="195821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1290285" y="7146655"/>
            <a:ext cx="4543587" cy="27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KEY ACTIVITIES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90285" y="7609161"/>
            <a:ext cx="4543587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Capture • curate • match • challenge • prototype • measure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538112" y="6922465"/>
            <a:ext cx="5166589" cy="1762363"/>
            <a:chOff x="0" y="0"/>
            <a:chExt cx="6888785" cy="234981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888861" cy="2349881"/>
            </a:xfrm>
            <a:custGeom>
              <a:avLst/>
              <a:gdLst/>
              <a:ahLst/>
              <a:cxnLst/>
              <a:rect l="l" t="t" r="r" b="b"/>
              <a:pathLst>
                <a:path w="6888861" h="2349881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lnTo>
                    <a:pt x="6497193" y="0"/>
                  </a:lnTo>
                  <a:cubicBezTo>
                    <a:pt x="6713474" y="0"/>
                    <a:pt x="6888861" y="175387"/>
                    <a:pt x="6888861" y="391668"/>
                  </a:cubicBezTo>
                  <a:lnTo>
                    <a:pt x="6888861" y="1958213"/>
                  </a:lnTo>
                  <a:cubicBezTo>
                    <a:pt x="6888861" y="2174494"/>
                    <a:pt x="6713474" y="2349881"/>
                    <a:pt x="6497193" y="2349881"/>
                  </a:cubicBezTo>
                  <a:lnTo>
                    <a:pt x="391668" y="2349881"/>
                  </a:lnTo>
                  <a:cubicBezTo>
                    <a:pt x="175387" y="2349754"/>
                    <a:pt x="0" y="2174494"/>
                    <a:pt x="0" y="195821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6849618" y="7146655"/>
            <a:ext cx="4543587" cy="27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KEY PARTNERS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49618" y="7609161"/>
            <a:ext cx="4543587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Makers • manufacturers • recyclers • sponsors • campus stakeholders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2097436" y="6922465"/>
            <a:ext cx="5166589" cy="1762363"/>
            <a:chOff x="0" y="0"/>
            <a:chExt cx="6888785" cy="234981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888861" cy="2349881"/>
            </a:xfrm>
            <a:custGeom>
              <a:avLst/>
              <a:gdLst/>
              <a:ahLst/>
              <a:cxnLst/>
              <a:rect l="l" t="t" r="r" b="b"/>
              <a:pathLst>
                <a:path w="6888861" h="2349881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lnTo>
                    <a:pt x="6497193" y="0"/>
                  </a:lnTo>
                  <a:cubicBezTo>
                    <a:pt x="6713474" y="0"/>
                    <a:pt x="6888861" y="175387"/>
                    <a:pt x="6888861" y="391668"/>
                  </a:cubicBezTo>
                  <a:lnTo>
                    <a:pt x="6888861" y="1958213"/>
                  </a:lnTo>
                  <a:cubicBezTo>
                    <a:pt x="6888861" y="2174494"/>
                    <a:pt x="6713474" y="2349881"/>
                    <a:pt x="6497193" y="2349881"/>
                  </a:cubicBezTo>
                  <a:lnTo>
                    <a:pt x="391668" y="2349881"/>
                  </a:lnTo>
                  <a:cubicBezTo>
                    <a:pt x="175387" y="2349754"/>
                    <a:pt x="0" y="2174494"/>
                    <a:pt x="0" y="195821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12408941" y="7146655"/>
            <a:ext cx="4543587" cy="27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COST STRUCTURE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408941" y="7609161"/>
            <a:ext cx="4543587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People • storage • software • collection • prototyping • manufacturing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15756" y="484994"/>
            <a:ext cx="7494832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09 / REVENUE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756" y="10066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Keep the revenue model simple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3207" y="1967484"/>
            <a:ext cx="1600540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Recurring university revenue is the core. Sponsorship and production are secondary.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68137" y="9658645"/>
            <a:ext cx="70010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5756" y="9681905"/>
            <a:ext cx="5161293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RE:FORM  /  AIU  /  GREEN LOOP 2026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19975" y="2804446"/>
            <a:ext cx="3890000" cy="5029324"/>
            <a:chOff x="0" y="0"/>
            <a:chExt cx="5186667" cy="67057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86680" cy="6705727"/>
            </a:xfrm>
            <a:custGeom>
              <a:avLst/>
              <a:gdLst/>
              <a:ahLst/>
              <a:cxnLst/>
              <a:rect l="l" t="t" r="r" b="b"/>
              <a:pathLst>
                <a:path w="5186680" h="6705727">
                  <a:moveTo>
                    <a:pt x="0" y="864489"/>
                  </a:moveTo>
                  <a:cubicBezTo>
                    <a:pt x="0" y="387096"/>
                    <a:pt x="387096" y="0"/>
                    <a:pt x="864489" y="0"/>
                  </a:cubicBezTo>
                  <a:lnTo>
                    <a:pt x="4322191" y="0"/>
                  </a:lnTo>
                  <a:cubicBezTo>
                    <a:pt x="4799584" y="0"/>
                    <a:pt x="5186680" y="387096"/>
                    <a:pt x="5186680" y="864489"/>
                  </a:cubicBezTo>
                  <a:lnTo>
                    <a:pt x="5186680" y="5841238"/>
                  </a:lnTo>
                  <a:cubicBezTo>
                    <a:pt x="5186680" y="6318631"/>
                    <a:pt x="4799584" y="6705727"/>
                    <a:pt x="4322191" y="6705727"/>
                  </a:cubicBezTo>
                  <a:lnTo>
                    <a:pt x="864489" y="6705727"/>
                  </a:lnTo>
                  <a:cubicBezTo>
                    <a:pt x="387096" y="6705727"/>
                    <a:pt x="0" y="6318758"/>
                    <a:pt x="0" y="584123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304039" y="3225784"/>
            <a:ext cx="658882" cy="521618"/>
            <a:chOff x="0" y="0"/>
            <a:chExt cx="878510" cy="6954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8586" cy="695579"/>
            </a:xfrm>
            <a:custGeom>
              <a:avLst/>
              <a:gdLst/>
              <a:ahLst/>
              <a:cxnLst/>
              <a:rect l="l" t="t" r="r" b="b"/>
              <a:pathLst>
                <a:path w="878586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762635" y="0"/>
                  </a:lnTo>
                  <a:cubicBezTo>
                    <a:pt x="826643" y="0"/>
                    <a:pt x="878586" y="51943"/>
                    <a:pt x="878586" y="115951"/>
                  </a:cubicBezTo>
                  <a:lnTo>
                    <a:pt x="878586" y="579628"/>
                  </a:lnTo>
                  <a:cubicBezTo>
                    <a:pt x="878586" y="643636"/>
                    <a:pt x="826643" y="695579"/>
                    <a:pt x="76263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372676" y="3328730"/>
            <a:ext cx="521618" cy="274539"/>
            <a:chOff x="0" y="0"/>
            <a:chExt cx="695490" cy="36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5487" cy="366046"/>
            </a:xfrm>
            <a:custGeom>
              <a:avLst/>
              <a:gdLst/>
              <a:ahLst/>
              <a:cxnLst/>
              <a:rect l="l" t="t" r="r" b="b"/>
              <a:pathLst>
                <a:path w="695487" h="366046">
                  <a:moveTo>
                    <a:pt x="0" y="0"/>
                  </a:moveTo>
                  <a:lnTo>
                    <a:pt x="695487" y="0"/>
                  </a:lnTo>
                  <a:lnTo>
                    <a:pt x="6954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29" r="-17529" b="-1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695490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31471" y="4163758"/>
            <a:ext cx="3102283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PILOT / SETUP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31471" y="5028543"/>
            <a:ext cx="3102283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EGP 250–350K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1471" y="5989415"/>
            <a:ext cx="3102283" cy="1130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Implementation + library + MVP + first challenge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206622" y="2804446"/>
            <a:ext cx="3890000" cy="5029324"/>
            <a:chOff x="0" y="0"/>
            <a:chExt cx="5186667" cy="670576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86680" cy="6705727"/>
            </a:xfrm>
            <a:custGeom>
              <a:avLst/>
              <a:gdLst/>
              <a:ahLst/>
              <a:cxnLst/>
              <a:rect l="l" t="t" r="r" b="b"/>
              <a:pathLst>
                <a:path w="5186680" h="6705727">
                  <a:moveTo>
                    <a:pt x="0" y="864489"/>
                  </a:moveTo>
                  <a:cubicBezTo>
                    <a:pt x="0" y="387096"/>
                    <a:pt x="387096" y="0"/>
                    <a:pt x="864489" y="0"/>
                  </a:cubicBezTo>
                  <a:lnTo>
                    <a:pt x="4322191" y="0"/>
                  </a:lnTo>
                  <a:cubicBezTo>
                    <a:pt x="4799584" y="0"/>
                    <a:pt x="5186680" y="387096"/>
                    <a:pt x="5186680" y="864489"/>
                  </a:cubicBezTo>
                  <a:lnTo>
                    <a:pt x="5186680" y="5841238"/>
                  </a:lnTo>
                  <a:cubicBezTo>
                    <a:pt x="5186680" y="6318631"/>
                    <a:pt x="4799584" y="6705727"/>
                    <a:pt x="4322191" y="6705727"/>
                  </a:cubicBezTo>
                  <a:lnTo>
                    <a:pt x="864489" y="6705727"/>
                  </a:lnTo>
                  <a:cubicBezTo>
                    <a:pt x="387096" y="6705727"/>
                    <a:pt x="0" y="6318758"/>
                    <a:pt x="0" y="584123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490686" y="3225784"/>
            <a:ext cx="658882" cy="521618"/>
            <a:chOff x="0" y="0"/>
            <a:chExt cx="878510" cy="69549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78586" cy="695579"/>
            </a:xfrm>
            <a:custGeom>
              <a:avLst/>
              <a:gdLst/>
              <a:ahLst/>
              <a:cxnLst/>
              <a:rect l="l" t="t" r="r" b="b"/>
              <a:pathLst>
                <a:path w="878586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762635" y="0"/>
                  </a:lnTo>
                  <a:cubicBezTo>
                    <a:pt x="826643" y="0"/>
                    <a:pt x="878586" y="51943"/>
                    <a:pt x="878586" y="115951"/>
                  </a:cubicBezTo>
                  <a:lnTo>
                    <a:pt x="878586" y="579628"/>
                  </a:lnTo>
                  <a:cubicBezTo>
                    <a:pt x="878586" y="643636"/>
                    <a:pt x="826643" y="695579"/>
                    <a:pt x="76263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D27E3E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5559323" y="3328730"/>
            <a:ext cx="521618" cy="274539"/>
            <a:chOff x="0" y="0"/>
            <a:chExt cx="695490" cy="3660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5487" cy="366046"/>
            </a:xfrm>
            <a:custGeom>
              <a:avLst/>
              <a:gdLst/>
              <a:ahLst/>
              <a:cxnLst/>
              <a:rect l="l" t="t" r="r" b="b"/>
              <a:pathLst>
                <a:path w="695487" h="366046">
                  <a:moveTo>
                    <a:pt x="0" y="0"/>
                  </a:moveTo>
                  <a:lnTo>
                    <a:pt x="695487" y="0"/>
                  </a:lnTo>
                  <a:lnTo>
                    <a:pt x="6954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29" r="-17529" b="-1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695490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518118" y="4163758"/>
            <a:ext cx="3102283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ANNUAL CAMPUS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18118" y="5028543"/>
            <a:ext cx="3102283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EGP 240–360K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18118" y="5989415"/>
            <a:ext cx="3102283" cy="1130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Platform + inventory + AI + reporting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393269" y="2804446"/>
            <a:ext cx="3890000" cy="5029324"/>
            <a:chOff x="0" y="0"/>
            <a:chExt cx="5186667" cy="670576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186680" cy="6705727"/>
            </a:xfrm>
            <a:custGeom>
              <a:avLst/>
              <a:gdLst/>
              <a:ahLst/>
              <a:cxnLst/>
              <a:rect l="l" t="t" r="r" b="b"/>
              <a:pathLst>
                <a:path w="5186680" h="6705727">
                  <a:moveTo>
                    <a:pt x="0" y="864489"/>
                  </a:moveTo>
                  <a:cubicBezTo>
                    <a:pt x="0" y="387096"/>
                    <a:pt x="387096" y="0"/>
                    <a:pt x="864489" y="0"/>
                  </a:cubicBezTo>
                  <a:lnTo>
                    <a:pt x="4322191" y="0"/>
                  </a:lnTo>
                  <a:cubicBezTo>
                    <a:pt x="4799584" y="0"/>
                    <a:pt x="5186680" y="387096"/>
                    <a:pt x="5186680" y="864489"/>
                  </a:cubicBezTo>
                  <a:lnTo>
                    <a:pt x="5186680" y="5841238"/>
                  </a:lnTo>
                  <a:cubicBezTo>
                    <a:pt x="5186680" y="6318631"/>
                    <a:pt x="4799584" y="6705727"/>
                    <a:pt x="4322191" y="6705727"/>
                  </a:cubicBezTo>
                  <a:lnTo>
                    <a:pt x="864489" y="6705727"/>
                  </a:lnTo>
                  <a:cubicBezTo>
                    <a:pt x="387096" y="6705727"/>
                    <a:pt x="0" y="6318758"/>
                    <a:pt x="0" y="584123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9677343" y="3225784"/>
            <a:ext cx="658882" cy="521618"/>
            <a:chOff x="0" y="0"/>
            <a:chExt cx="878510" cy="69549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78586" cy="695579"/>
            </a:xfrm>
            <a:custGeom>
              <a:avLst/>
              <a:gdLst/>
              <a:ahLst/>
              <a:cxnLst/>
              <a:rect l="l" t="t" r="r" b="b"/>
              <a:pathLst>
                <a:path w="878586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762635" y="0"/>
                  </a:lnTo>
                  <a:cubicBezTo>
                    <a:pt x="826643" y="0"/>
                    <a:pt x="878586" y="51943"/>
                    <a:pt x="878586" y="115951"/>
                  </a:cubicBezTo>
                  <a:lnTo>
                    <a:pt x="878586" y="579628"/>
                  </a:lnTo>
                  <a:cubicBezTo>
                    <a:pt x="878586" y="643636"/>
                    <a:pt x="826643" y="695579"/>
                    <a:pt x="76263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9745970" y="3328730"/>
            <a:ext cx="521618" cy="274539"/>
            <a:chOff x="0" y="0"/>
            <a:chExt cx="695490" cy="3660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95487" cy="366046"/>
            </a:xfrm>
            <a:custGeom>
              <a:avLst/>
              <a:gdLst/>
              <a:ahLst/>
              <a:cxnLst/>
              <a:rect l="l" t="t" r="r" b="b"/>
              <a:pathLst>
                <a:path w="695487" h="366046">
                  <a:moveTo>
                    <a:pt x="0" y="0"/>
                  </a:moveTo>
                  <a:lnTo>
                    <a:pt x="695487" y="0"/>
                  </a:lnTo>
                  <a:lnTo>
                    <a:pt x="6954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29" r="-17529" b="-1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695490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704775" y="4163758"/>
            <a:ext cx="3102283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SPONSORED CHALLENGE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704775" y="5028543"/>
            <a:ext cx="3102283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EGP 50–150K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04775" y="5989415"/>
            <a:ext cx="3102283" cy="1130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Corporate-funded challenge + visibility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3579926" y="2804446"/>
            <a:ext cx="3890000" cy="5029324"/>
            <a:chOff x="0" y="0"/>
            <a:chExt cx="5186667" cy="670576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186680" cy="6705727"/>
            </a:xfrm>
            <a:custGeom>
              <a:avLst/>
              <a:gdLst/>
              <a:ahLst/>
              <a:cxnLst/>
              <a:rect l="l" t="t" r="r" b="b"/>
              <a:pathLst>
                <a:path w="5186680" h="6705727">
                  <a:moveTo>
                    <a:pt x="0" y="864489"/>
                  </a:moveTo>
                  <a:cubicBezTo>
                    <a:pt x="0" y="387096"/>
                    <a:pt x="387096" y="0"/>
                    <a:pt x="864489" y="0"/>
                  </a:cubicBezTo>
                  <a:lnTo>
                    <a:pt x="4322191" y="0"/>
                  </a:lnTo>
                  <a:cubicBezTo>
                    <a:pt x="4799584" y="0"/>
                    <a:pt x="5186680" y="387096"/>
                    <a:pt x="5186680" y="864489"/>
                  </a:cubicBezTo>
                  <a:lnTo>
                    <a:pt x="5186680" y="5841238"/>
                  </a:lnTo>
                  <a:cubicBezTo>
                    <a:pt x="5186680" y="6318631"/>
                    <a:pt x="4799584" y="6705727"/>
                    <a:pt x="4322191" y="6705727"/>
                  </a:cubicBezTo>
                  <a:lnTo>
                    <a:pt x="864489" y="6705727"/>
                  </a:lnTo>
                  <a:cubicBezTo>
                    <a:pt x="387096" y="6705727"/>
                    <a:pt x="0" y="6318758"/>
                    <a:pt x="0" y="584123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3863990" y="3225784"/>
            <a:ext cx="658882" cy="521618"/>
            <a:chOff x="0" y="0"/>
            <a:chExt cx="878510" cy="69549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78586" cy="695579"/>
            </a:xfrm>
            <a:custGeom>
              <a:avLst/>
              <a:gdLst/>
              <a:ahLst/>
              <a:cxnLst/>
              <a:rect l="l" t="t" r="r" b="b"/>
              <a:pathLst>
                <a:path w="878586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762635" y="0"/>
                  </a:lnTo>
                  <a:cubicBezTo>
                    <a:pt x="826643" y="0"/>
                    <a:pt x="878586" y="51943"/>
                    <a:pt x="878586" y="115951"/>
                  </a:cubicBezTo>
                  <a:lnTo>
                    <a:pt x="878586" y="579628"/>
                  </a:lnTo>
                  <a:cubicBezTo>
                    <a:pt x="878586" y="643636"/>
                    <a:pt x="826643" y="695579"/>
                    <a:pt x="76263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D27E3E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3932627" y="3328730"/>
            <a:ext cx="521618" cy="274539"/>
            <a:chOff x="0" y="0"/>
            <a:chExt cx="695490" cy="36605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95487" cy="366046"/>
            </a:xfrm>
            <a:custGeom>
              <a:avLst/>
              <a:gdLst/>
              <a:ahLst/>
              <a:cxnLst/>
              <a:rect l="l" t="t" r="r" b="b"/>
              <a:pathLst>
                <a:path w="695487" h="366046">
                  <a:moveTo>
                    <a:pt x="0" y="0"/>
                  </a:moveTo>
                  <a:lnTo>
                    <a:pt x="695487" y="0"/>
                  </a:lnTo>
                  <a:lnTo>
                    <a:pt x="6954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29" r="-17529" b="-1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695490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3891422" y="4163758"/>
            <a:ext cx="3102283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PRODUCTION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891422" y="5028543"/>
            <a:ext cx="3102283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10–20% margin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891422" y="5989415"/>
            <a:ext cx="3102283" cy="1130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Selected products / campus assets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029500" y="8304667"/>
            <a:ext cx="16197539" cy="754971"/>
            <a:chOff x="0" y="0"/>
            <a:chExt cx="21596718" cy="100662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596730" cy="1006602"/>
            </a:xfrm>
            <a:custGeom>
              <a:avLst/>
              <a:gdLst/>
              <a:ahLst/>
              <a:cxnLst/>
              <a:rect l="l" t="t" r="r" b="b"/>
              <a:pathLst>
                <a:path w="21596730" h="1006602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21428963" y="0"/>
                  </a:lnTo>
                  <a:cubicBezTo>
                    <a:pt x="21521674" y="0"/>
                    <a:pt x="21596730" y="75057"/>
                    <a:pt x="21596730" y="167767"/>
                  </a:cubicBezTo>
                  <a:lnTo>
                    <a:pt x="21596730" y="838835"/>
                  </a:lnTo>
                  <a:cubicBezTo>
                    <a:pt x="21596730" y="931545"/>
                    <a:pt x="21521674" y="1006602"/>
                    <a:pt x="21428963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F2EDDE"/>
            </a:solidFill>
          </p:spPr>
        </p:sp>
      </p:grpSp>
      <p:sp>
        <p:nvSpPr>
          <p:cNvPr id="51" name="TextBox 51"/>
          <p:cNvSpPr txBox="1"/>
          <p:nvPr/>
        </p:nvSpPr>
        <p:spPr>
          <a:xfrm>
            <a:off x="1400108" y="8528856"/>
            <a:ext cx="15456332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PRIMARY: UNIVERSITY SETUP + ANNUAL SUBSCRIPTION     |     SECONDARY: SPONSORSHIP + PRODUCTION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15756" y="484994"/>
            <a:ext cx="7494832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10 / COST STRUCTURE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756" y="10066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Lean pilot budget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3207" y="1967484"/>
            <a:ext cx="1600540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Illustrative 6-month pilot. Actual costs should be replaced by supplier quotations.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68137" y="9658645"/>
            <a:ext cx="70010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5756" y="9681905"/>
            <a:ext cx="5161293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RE:FORM  /  AIU  /  GREEN LOOP 2026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19975" y="2735809"/>
            <a:ext cx="8255098" cy="5784285"/>
            <a:chOff x="0" y="0"/>
            <a:chExt cx="11006798" cy="77123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006710" cy="7712329"/>
            </a:xfrm>
            <a:custGeom>
              <a:avLst/>
              <a:gdLst/>
              <a:ahLst/>
              <a:cxnLst/>
              <a:rect l="l" t="t" r="r" b="b"/>
              <a:pathLst>
                <a:path w="11006710" h="7712329">
                  <a:moveTo>
                    <a:pt x="0" y="1285367"/>
                  </a:moveTo>
                  <a:cubicBezTo>
                    <a:pt x="0" y="575564"/>
                    <a:pt x="575564" y="0"/>
                    <a:pt x="1285367" y="0"/>
                  </a:cubicBezTo>
                  <a:lnTo>
                    <a:pt x="9721342" y="0"/>
                  </a:lnTo>
                  <a:cubicBezTo>
                    <a:pt x="10431273" y="0"/>
                    <a:pt x="11006710" y="575564"/>
                    <a:pt x="11006710" y="1285367"/>
                  </a:cubicBezTo>
                  <a:lnTo>
                    <a:pt x="11006710" y="6426962"/>
                  </a:lnTo>
                  <a:cubicBezTo>
                    <a:pt x="11006710" y="7136892"/>
                    <a:pt x="10431145" y="7712329"/>
                    <a:pt x="9721342" y="7712329"/>
                  </a:cubicBezTo>
                  <a:lnTo>
                    <a:pt x="1285367" y="7712329"/>
                  </a:lnTo>
                  <a:cubicBezTo>
                    <a:pt x="575564" y="7712329"/>
                    <a:pt x="0" y="7136892"/>
                    <a:pt x="0" y="642696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468736" y="3165910"/>
            <a:ext cx="4337685" cy="384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ILLUSTRATIVE PILOT COST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8736" y="4026494"/>
            <a:ext cx="5161293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Storage + fixtures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65324" y="4026494"/>
            <a:ext cx="1523705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EGP 60K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8736" y="4781464"/>
            <a:ext cx="5161293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MVP software / AI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65324" y="4781464"/>
            <a:ext cx="1523705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EGP 50K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8736" y="5536425"/>
            <a:ext cx="5161293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Coordinator + handling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65324" y="5536425"/>
            <a:ext cx="1523705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EGP 90K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68736" y="6291405"/>
            <a:ext cx="5161293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Prototype + manufacturing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65324" y="6291405"/>
            <a:ext cx="1523705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EGP 75K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8736" y="7046366"/>
            <a:ext cx="5161293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Events + contingency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65324" y="7046366"/>
            <a:ext cx="1523705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EGP 25K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68736" y="7705249"/>
            <a:ext cx="3376813" cy="44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≈ EGP 300K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677343" y="2745343"/>
            <a:ext cx="7549696" cy="5765225"/>
            <a:chOff x="0" y="0"/>
            <a:chExt cx="10066261" cy="768696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066274" cy="7686929"/>
            </a:xfrm>
            <a:custGeom>
              <a:avLst/>
              <a:gdLst/>
              <a:ahLst/>
              <a:cxnLst/>
              <a:rect l="l" t="t" r="r" b="b"/>
              <a:pathLst>
                <a:path w="10066274" h="7686929">
                  <a:moveTo>
                    <a:pt x="0" y="1281176"/>
                  </a:moveTo>
                  <a:cubicBezTo>
                    <a:pt x="0" y="573659"/>
                    <a:pt x="573659" y="0"/>
                    <a:pt x="1281176" y="0"/>
                  </a:cubicBezTo>
                  <a:lnTo>
                    <a:pt x="8785098" y="0"/>
                  </a:lnTo>
                  <a:cubicBezTo>
                    <a:pt x="9492615" y="0"/>
                    <a:pt x="10066274" y="573659"/>
                    <a:pt x="10066274" y="1281176"/>
                  </a:cubicBezTo>
                  <a:lnTo>
                    <a:pt x="10066274" y="6405753"/>
                  </a:lnTo>
                  <a:cubicBezTo>
                    <a:pt x="10066274" y="7113270"/>
                    <a:pt x="9492615" y="7686929"/>
                    <a:pt x="8785098" y="7686929"/>
                  </a:cubicBezTo>
                  <a:lnTo>
                    <a:pt x="1281176" y="7686929"/>
                  </a:lnTo>
                  <a:cubicBezTo>
                    <a:pt x="573659" y="7686929"/>
                    <a:pt x="0" y="7113397"/>
                    <a:pt x="0" y="6405753"/>
                  </a:cubicBezTo>
                  <a:close/>
                </a:path>
              </a:pathLst>
            </a:custGeom>
            <a:solidFill>
              <a:srgbClr val="181F1C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0116579" y="3165910"/>
            <a:ext cx="3514087" cy="384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COST CONTROL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089147" y="4159196"/>
            <a:ext cx="247079" cy="247079"/>
            <a:chOff x="0" y="0"/>
            <a:chExt cx="329438" cy="32943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54864"/>
                  </a:moveTo>
                  <a:cubicBezTo>
                    <a:pt x="0" y="24638"/>
                    <a:pt x="24638" y="0"/>
                    <a:pt x="54864" y="0"/>
                  </a:cubicBezTo>
                  <a:lnTo>
                    <a:pt x="274574" y="0"/>
                  </a:lnTo>
                  <a:cubicBezTo>
                    <a:pt x="304800" y="0"/>
                    <a:pt x="329438" y="24638"/>
                    <a:pt x="329438" y="54864"/>
                  </a:cubicBezTo>
                  <a:lnTo>
                    <a:pt x="329438" y="274574"/>
                  </a:lnTo>
                  <a:cubicBezTo>
                    <a:pt x="329438" y="304927"/>
                    <a:pt x="304800" y="329438"/>
                    <a:pt x="274574" y="329438"/>
                  </a:cubicBezTo>
                  <a:lnTo>
                    <a:pt x="54864" y="329438"/>
                  </a:lnTo>
                  <a:cubicBezTo>
                    <a:pt x="24638" y="329438"/>
                    <a:pt x="0" y="304800"/>
                    <a:pt x="0" y="274574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0597010" y="4067670"/>
            <a:ext cx="5847626" cy="759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Cap inventory before collecting.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089147" y="5010255"/>
            <a:ext cx="247079" cy="247079"/>
            <a:chOff x="0" y="0"/>
            <a:chExt cx="329438" cy="32943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54864"/>
                  </a:moveTo>
                  <a:cubicBezTo>
                    <a:pt x="0" y="24638"/>
                    <a:pt x="24638" y="0"/>
                    <a:pt x="54864" y="0"/>
                  </a:cubicBezTo>
                  <a:lnTo>
                    <a:pt x="274574" y="0"/>
                  </a:lnTo>
                  <a:cubicBezTo>
                    <a:pt x="304800" y="0"/>
                    <a:pt x="329438" y="24638"/>
                    <a:pt x="329438" y="54864"/>
                  </a:cubicBezTo>
                  <a:lnTo>
                    <a:pt x="329438" y="274574"/>
                  </a:lnTo>
                  <a:cubicBezTo>
                    <a:pt x="329438" y="304927"/>
                    <a:pt x="304800" y="329438"/>
                    <a:pt x="274574" y="329438"/>
                  </a:cubicBezTo>
                  <a:lnTo>
                    <a:pt x="54864" y="329438"/>
                  </a:lnTo>
                  <a:cubicBezTo>
                    <a:pt x="24638" y="329438"/>
                    <a:pt x="0" y="304800"/>
                    <a:pt x="0" y="274574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0597010" y="4918729"/>
            <a:ext cx="5847626" cy="759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Prototype only validated concepts.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089147" y="5861314"/>
            <a:ext cx="247079" cy="247079"/>
            <a:chOff x="0" y="0"/>
            <a:chExt cx="329438" cy="32943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54864"/>
                  </a:moveTo>
                  <a:cubicBezTo>
                    <a:pt x="0" y="24638"/>
                    <a:pt x="24638" y="0"/>
                    <a:pt x="54864" y="0"/>
                  </a:cubicBezTo>
                  <a:lnTo>
                    <a:pt x="274574" y="0"/>
                  </a:lnTo>
                  <a:cubicBezTo>
                    <a:pt x="304800" y="0"/>
                    <a:pt x="329438" y="24638"/>
                    <a:pt x="329438" y="54864"/>
                  </a:cubicBezTo>
                  <a:lnTo>
                    <a:pt x="329438" y="274574"/>
                  </a:lnTo>
                  <a:cubicBezTo>
                    <a:pt x="329438" y="304927"/>
                    <a:pt x="304800" y="329438"/>
                    <a:pt x="274574" y="329438"/>
                  </a:cubicBezTo>
                  <a:lnTo>
                    <a:pt x="54864" y="329438"/>
                  </a:lnTo>
                  <a:cubicBezTo>
                    <a:pt x="24638" y="329438"/>
                    <a:pt x="0" y="304800"/>
                    <a:pt x="0" y="274574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10597010" y="5769788"/>
            <a:ext cx="5847626" cy="759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Use approved contractors for restricted work.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0089147" y="6712372"/>
            <a:ext cx="247079" cy="247079"/>
            <a:chOff x="0" y="0"/>
            <a:chExt cx="329438" cy="32943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54864"/>
                  </a:moveTo>
                  <a:cubicBezTo>
                    <a:pt x="0" y="24638"/>
                    <a:pt x="24638" y="0"/>
                    <a:pt x="54864" y="0"/>
                  </a:cubicBezTo>
                  <a:lnTo>
                    <a:pt x="274574" y="0"/>
                  </a:lnTo>
                  <a:cubicBezTo>
                    <a:pt x="304800" y="0"/>
                    <a:pt x="329438" y="24638"/>
                    <a:pt x="329438" y="54864"/>
                  </a:cubicBezTo>
                  <a:lnTo>
                    <a:pt x="329438" y="274574"/>
                  </a:lnTo>
                  <a:cubicBezTo>
                    <a:pt x="329438" y="304927"/>
                    <a:pt x="304800" y="329438"/>
                    <a:pt x="274574" y="329438"/>
                  </a:cubicBezTo>
                  <a:lnTo>
                    <a:pt x="54864" y="329438"/>
                  </a:lnTo>
                  <a:cubicBezTo>
                    <a:pt x="24638" y="329438"/>
                    <a:pt x="0" y="304800"/>
                    <a:pt x="0" y="274574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sp>
        <p:nvSpPr>
          <p:cNvPr id="37" name="TextBox 37"/>
          <p:cNvSpPr txBox="1"/>
          <p:nvPr/>
        </p:nvSpPr>
        <p:spPr>
          <a:xfrm>
            <a:off x="10597010" y="6620847"/>
            <a:ext cx="5847626" cy="759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Track cost per material batch.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0089147" y="7563421"/>
            <a:ext cx="247079" cy="247079"/>
            <a:chOff x="0" y="0"/>
            <a:chExt cx="329438" cy="32943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54864"/>
                  </a:moveTo>
                  <a:cubicBezTo>
                    <a:pt x="0" y="24638"/>
                    <a:pt x="24638" y="0"/>
                    <a:pt x="54864" y="0"/>
                  </a:cubicBezTo>
                  <a:lnTo>
                    <a:pt x="274574" y="0"/>
                  </a:lnTo>
                  <a:cubicBezTo>
                    <a:pt x="304800" y="0"/>
                    <a:pt x="329438" y="24638"/>
                    <a:pt x="329438" y="54864"/>
                  </a:cubicBezTo>
                  <a:lnTo>
                    <a:pt x="329438" y="274574"/>
                  </a:lnTo>
                  <a:cubicBezTo>
                    <a:pt x="329438" y="304927"/>
                    <a:pt x="304800" y="329438"/>
                    <a:pt x="274574" y="329438"/>
                  </a:cubicBezTo>
                  <a:lnTo>
                    <a:pt x="54864" y="329438"/>
                  </a:lnTo>
                  <a:cubicBezTo>
                    <a:pt x="24638" y="329438"/>
                    <a:pt x="0" y="304800"/>
                    <a:pt x="0" y="274574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10597010" y="7471896"/>
            <a:ext cx="5847626" cy="759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Scale only after the pilot proves demand.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51059" y="484994"/>
            <a:ext cx="749483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11 / BUSINESS MODEL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756" y="10066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The complete RE:FORM ecosystem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3207" y="1967484"/>
            <a:ext cx="1600540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One loop. Multiple value points.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68137" y="9658645"/>
            <a:ext cx="70010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5756" y="9681905"/>
            <a:ext cx="5161293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RE:FORM  /  AIU  /  GREEN LOOP 2026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1059" y="3088510"/>
            <a:ext cx="1482490" cy="1853108"/>
            <a:chOff x="0" y="0"/>
            <a:chExt cx="1976653" cy="24708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76628" cy="2470785"/>
            </a:xfrm>
            <a:custGeom>
              <a:avLst/>
              <a:gdLst/>
              <a:ahLst/>
              <a:cxnLst/>
              <a:rect l="l" t="t" r="r" b="b"/>
              <a:pathLst>
                <a:path w="1976628" h="2470785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lnTo>
                    <a:pt x="1647190" y="0"/>
                  </a:lnTo>
                  <a:cubicBezTo>
                    <a:pt x="1829181" y="0"/>
                    <a:pt x="1976628" y="147447"/>
                    <a:pt x="1976628" y="329438"/>
                  </a:cubicBezTo>
                  <a:lnTo>
                    <a:pt x="1976628" y="2141347"/>
                  </a:lnTo>
                  <a:cubicBezTo>
                    <a:pt x="1976628" y="2323338"/>
                    <a:pt x="1829181" y="2470785"/>
                    <a:pt x="1647190" y="2470785"/>
                  </a:cubicBezTo>
                  <a:lnTo>
                    <a:pt x="329438" y="2470785"/>
                  </a:lnTo>
                  <a:cubicBezTo>
                    <a:pt x="147447" y="2470785"/>
                    <a:pt x="0" y="2323338"/>
                    <a:pt x="0" y="2141347"/>
                  </a:cubicBezTo>
                  <a:close/>
                </a:path>
              </a:pathLst>
            </a:custGeom>
            <a:solidFill>
              <a:srgbClr val="181F1C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19686" y="3623853"/>
            <a:ext cx="1345216" cy="713794"/>
            <a:chOff x="0" y="0"/>
            <a:chExt cx="1793621" cy="9517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93625" cy="951720"/>
            </a:xfrm>
            <a:custGeom>
              <a:avLst/>
              <a:gdLst/>
              <a:ahLst/>
              <a:cxnLst/>
              <a:rect l="l" t="t" r="r" b="b"/>
              <a:pathLst>
                <a:path w="1793625" h="951720">
                  <a:moveTo>
                    <a:pt x="0" y="0"/>
                  </a:moveTo>
                  <a:lnTo>
                    <a:pt x="1793625" y="0"/>
                  </a:lnTo>
                  <a:lnTo>
                    <a:pt x="1793625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79" r="-1807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793621" cy="951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MATERIAL</a:t>
              </a:r>
            </a:p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SOURCE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360971" y="3751955"/>
            <a:ext cx="219675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594353" y="3088510"/>
            <a:ext cx="1482490" cy="1853108"/>
            <a:chOff x="0" y="0"/>
            <a:chExt cx="1976653" cy="24708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76628" cy="2470785"/>
            </a:xfrm>
            <a:custGeom>
              <a:avLst/>
              <a:gdLst/>
              <a:ahLst/>
              <a:cxnLst/>
              <a:rect l="l" t="t" r="r" b="b"/>
              <a:pathLst>
                <a:path w="1976628" h="2470785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lnTo>
                    <a:pt x="1647190" y="0"/>
                  </a:lnTo>
                  <a:cubicBezTo>
                    <a:pt x="1829181" y="0"/>
                    <a:pt x="1976628" y="147447"/>
                    <a:pt x="1976628" y="329438"/>
                  </a:cubicBezTo>
                  <a:lnTo>
                    <a:pt x="1976628" y="2141347"/>
                  </a:lnTo>
                  <a:cubicBezTo>
                    <a:pt x="1976628" y="2323338"/>
                    <a:pt x="1829181" y="2470785"/>
                    <a:pt x="1647190" y="2470785"/>
                  </a:cubicBezTo>
                  <a:lnTo>
                    <a:pt x="329438" y="2470785"/>
                  </a:lnTo>
                  <a:cubicBezTo>
                    <a:pt x="147447" y="2470785"/>
                    <a:pt x="0" y="2323338"/>
                    <a:pt x="0" y="2141347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2662980" y="3623853"/>
            <a:ext cx="1345216" cy="713794"/>
            <a:chOff x="0" y="0"/>
            <a:chExt cx="1793621" cy="9517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93625" cy="951720"/>
            </a:xfrm>
            <a:custGeom>
              <a:avLst/>
              <a:gdLst/>
              <a:ahLst/>
              <a:cxnLst/>
              <a:rect l="l" t="t" r="r" b="b"/>
              <a:pathLst>
                <a:path w="1793625" h="951720">
                  <a:moveTo>
                    <a:pt x="0" y="0"/>
                  </a:moveTo>
                  <a:lnTo>
                    <a:pt x="1793625" y="0"/>
                  </a:lnTo>
                  <a:lnTo>
                    <a:pt x="1793625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79" r="-18079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1793621" cy="951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COLLECTION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104265" y="3751955"/>
            <a:ext cx="219675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337647" y="3088510"/>
            <a:ext cx="1482490" cy="1853108"/>
            <a:chOff x="0" y="0"/>
            <a:chExt cx="1976653" cy="247081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76628" cy="2470785"/>
            </a:xfrm>
            <a:custGeom>
              <a:avLst/>
              <a:gdLst/>
              <a:ahLst/>
              <a:cxnLst/>
              <a:rect l="l" t="t" r="r" b="b"/>
              <a:pathLst>
                <a:path w="1976628" h="2470785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lnTo>
                    <a:pt x="1647190" y="0"/>
                  </a:lnTo>
                  <a:cubicBezTo>
                    <a:pt x="1829181" y="0"/>
                    <a:pt x="1976628" y="147447"/>
                    <a:pt x="1976628" y="329438"/>
                  </a:cubicBezTo>
                  <a:lnTo>
                    <a:pt x="1976628" y="2141347"/>
                  </a:lnTo>
                  <a:cubicBezTo>
                    <a:pt x="1976628" y="2323338"/>
                    <a:pt x="1829181" y="2470785"/>
                    <a:pt x="1647190" y="2470785"/>
                  </a:cubicBezTo>
                  <a:lnTo>
                    <a:pt x="329438" y="2470785"/>
                  </a:lnTo>
                  <a:cubicBezTo>
                    <a:pt x="147447" y="2470785"/>
                    <a:pt x="0" y="2323338"/>
                    <a:pt x="0" y="2141347"/>
                  </a:cubicBezTo>
                  <a:close/>
                </a:path>
              </a:pathLst>
            </a:custGeom>
            <a:solidFill>
              <a:srgbClr val="D27E3E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4406275" y="3623853"/>
            <a:ext cx="1345216" cy="713794"/>
            <a:chOff x="0" y="0"/>
            <a:chExt cx="1793621" cy="9517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793625" cy="951720"/>
            </a:xfrm>
            <a:custGeom>
              <a:avLst/>
              <a:gdLst/>
              <a:ahLst/>
              <a:cxnLst/>
              <a:rect l="l" t="t" r="r" b="b"/>
              <a:pathLst>
                <a:path w="1793625" h="951720">
                  <a:moveTo>
                    <a:pt x="0" y="0"/>
                  </a:moveTo>
                  <a:lnTo>
                    <a:pt x="1793625" y="0"/>
                  </a:lnTo>
                  <a:lnTo>
                    <a:pt x="1793625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79" r="-18079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1793621" cy="951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MATERIAL</a:t>
              </a:r>
            </a:p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LIBRARY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847559" y="3751955"/>
            <a:ext cx="219675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080941" y="3088510"/>
            <a:ext cx="1482490" cy="1853108"/>
            <a:chOff x="0" y="0"/>
            <a:chExt cx="1976653" cy="247081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76628" cy="2470785"/>
            </a:xfrm>
            <a:custGeom>
              <a:avLst/>
              <a:gdLst/>
              <a:ahLst/>
              <a:cxnLst/>
              <a:rect l="l" t="t" r="r" b="b"/>
              <a:pathLst>
                <a:path w="1976628" h="2470785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lnTo>
                    <a:pt x="1647190" y="0"/>
                  </a:lnTo>
                  <a:cubicBezTo>
                    <a:pt x="1829181" y="0"/>
                    <a:pt x="1976628" y="147447"/>
                    <a:pt x="1976628" y="329438"/>
                  </a:cubicBezTo>
                  <a:lnTo>
                    <a:pt x="1976628" y="2141347"/>
                  </a:lnTo>
                  <a:cubicBezTo>
                    <a:pt x="1976628" y="2323338"/>
                    <a:pt x="1829181" y="2470785"/>
                    <a:pt x="1647190" y="2470785"/>
                  </a:cubicBezTo>
                  <a:lnTo>
                    <a:pt x="329438" y="2470785"/>
                  </a:lnTo>
                  <a:cubicBezTo>
                    <a:pt x="147447" y="2470785"/>
                    <a:pt x="0" y="2323338"/>
                    <a:pt x="0" y="2141347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149569" y="3623853"/>
            <a:ext cx="1345216" cy="713794"/>
            <a:chOff x="0" y="0"/>
            <a:chExt cx="1793621" cy="95172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793625" cy="951720"/>
            </a:xfrm>
            <a:custGeom>
              <a:avLst/>
              <a:gdLst/>
              <a:ahLst/>
              <a:cxnLst/>
              <a:rect l="l" t="t" r="r" b="b"/>
              <a:pathLst>
                <a:path w="1793625" h="951720">
                  <a:moveTo>
                    <a:pt x="0" y="0"/>
                  </a:moveTo>
                  <a:lnTo>
                    <a:pt x="1793625" y="0"/>
                  </a:lnTo>
                  <a:lnTo>
                    <a:pt x="1793625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79" r="-18079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1793621" cy="951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</a:t>
              </a:r>
            </a:p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MATCHING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590854" y="3751955"/>
            <a:ext cx="219675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7824235" y="3088510"/>
            <a:ext cx="1482490" cy="1853108"/>
            <a:chOff x="0" y="0"/>
            <a:chExt cx="1976653" cy="247081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76628" cy="2470785"/>
            </a:xfrm>
            <a:custGeom>
              <a:avLst/>
              <a:gdLst/>
              <a:ahLst/>
              <a:cxnLst/>
              <a:rect l="l" t="t" r="r" b="b"/>
              <a:pathLst>
                <a:path w="1976628" h="2470785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lnTo>
                    <a:pt x="1647190" y="0"/>
                  </a:lnTo>
                  <a:cubicBezTo>
                    <a:pt x="1829181" y="0"/>
                    <a:pt x="1976628" y="147447"/>
                    <a:pt x="1976628" y="329438"/>
                  </a:cubicBezTo>
                  <a:lnTo>
                    <a:pt x="1976628" y="2141347"/>
                  </a:lnTo>
                  <a:cubicBezTo>
                    <a:pt x="1976628" y="2323338"/>
                    <a:pt x="1829181" y="2470785"/>
                    <a:pt x="1647190" y="2470785"/>
                  </a:cubicBezTo>
                  <a:lnTo>
                    <a:pt x="329438" y="2470785"/>
                  </a:lnTo>
                  <a:cubicBezTo>
                    <a:pt x="147447" y="2470785"/>
                    <a:pt x="0" y="2323338"/>
                    <a:pt x="0" y="2141347"/>
                  </a:cubicBezTo>
                  <a:close/>
                </a:path>
              </a:pathLst>
            </a:custGeom>
            <a:solidFill>
              <a:srgbClr val="181F1C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7892863" y="3623853"/>
            <a:ext cx="1345216" cy="713794"/>
            <a:chOff x="0" y="0"/>
            <a:chExt cx="1793621" cy="95172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793625" cy="951720"/>
            </a:xfrm>
            <a:custGeom>
              <a:avLst/>
              <a:gdLst/>
              <a:ahLst/>
              <a:cxnLst/>
              <a:rect l="l" t="t" r="r" b="b"/>
              <a:pathLst>
                <a:path w="1793625" h="951720">
                  <a:moveTo>
                    <a:pt x="0" y="0"/>
                  </a:moveTo>
                  <a:lnTo>
                    <a:pt x="1793625" y="0"/>
                  </a:lnTo>
                  <a:lnTo>
                    <a:pt x="1793625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79" r="-18079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1793621" cy="951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STUDENT</a:t>
              </a:r>
            </a:p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CHALLENGE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334148" y="3751955"/>
            <a:ext cx="219675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9567529" y="3088510"/>
            <a:ext cx="1482490" cy="1853108"/>
            <a:chOff x="0" y="0"/>
            <a:chExt cx="1976653" cy="247081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76628" cy="2470785"/>
            </a:xfrm>
            <a:custGeom>
              <a:avLst/>
              <a:gdLst/>
              <a:ahLst/>
              <a:cxnLst/>
              <a:rect l="l" t="t" r="r" b="b"/>
              <a:pathLst>
                <a:path w="1976628" h="2470785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lnTo>
                    <a:pt x="1647190" y="0"/>
                  </a:lnTo>
                  <a:cubicBezTo>
                    <a:pt x="1829181" y="0"/>
                    <a:pt x="1976628" y="147447"/>
                    <a:pt x="1976628" y="329438"/>
                  </a:cubicBezTo>
                  <a:lnTo>
                    <a:pt x="1976628" y="2141347"/>
                  </a:lnTo>
                  <a:cubicBezTo>
                    <a:pt x="1976628" y="2323338"/>
                    <a:pt x="1829181" y="2470785"/>
                    <a:pt x="1647190" y="2470785"/>
                  </a:cubicBezTo>
                  <a:lnTo>
                    <a:pt x="329438" y="2470785"/>
                  </a:lnTo>
                  <a:cubicBezTo>
                    <a:pt x="147447" y="2470785"/>
                    <a:pt x="0" y="2323338"/>
                    <a:pt x="0" y="2141347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9636157" y="3623853"/>
            <a:ext cx="1345216" cy="713794"/>
            <a:chOff x="0" y="0"/>
            <a:chExt cx="1793621" cy="95172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793625" cy="951720"/>
            </a:xfrm>
            <a:custGeom>
              <a:avLst/>
              <a:gdLst/>
              <a:ahLst/>
              <a:cxnLst/>
              <a:rect l="l" t="t" r="r" b="b"/>
              <a:pathLst>
                <a:path w="1793625" h="951720">
                  <a:moveTo>
                    <a:pt x="0" y="0"/>
                  </a:moveTo>
                  <a:lnTo>
                    <a:pt x="1793625" y="0"/>
                  </a:lnTo>
                  <a:lnTo>
                    <a:pt x="1793625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79" r="-18079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1793621" cy="951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PROTOTYPE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077442" y="3751955"/>
            <a:ext cx="219675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1310823" y="3088510"/>
            <a:ext cx="1482490" cy="1853108"/>
            <a:chOff x="0" y="0"/>
            <a:chExt cx="1976653" cy="247081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976628" cy="2470785"/>
            </a:xfrm>
            <a:custGeom>
              <a:avLst/>
              <a:gdLst/>
              <a:ahLst/>
              <a:cxnLst/>
              <a:rect l="l" t="t" r="r" b="b"/>
              <a:pathLst>
                <a:path w="1976628" h="2470785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lnTo>
                    <a:pt x="1647190" y="0"/>
                  </a:lnTo>
                  <a:cubicBezTo>
                    <a:pt x="1829181" y="0"/>
                    <a:pt x="1976628" y="147447"/>
                    <a:pt x="1976628" y="329438"/>
                  </a:cubicBezTo>
                  <a:lnTo>
                    <a:pt x="1976628" y="2141347"/>
                  </a:lnTo>
                  <a:cubicBezTo>
                    <a:pt x="1976628" y="2323338"/>
                    <a:pt x="1829181" y="2470785"/>
                    <a:pt x="1647190" y="2470785"/>
                  </a:cubicBezTo>
                  <a:lnTo>
                    <a:pt x="329438" y="2470785"/>
                  </a:lnTo>
                  <a:cubicBezTo>
                    <a:pt x="147447" y="2470785"/>
                    <a:pt x="0" y="2323338"/>
                    <a:pt x="0" y="2141347"/>
                  </a:cubicBezTo>
                  <a:close/>
                </a:path>
              </a:pathLst>
            </a:custGeom>
            <a:solidFill>
              <a:srgbClr val="D27E3E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1379451" y="3623853"/>
            <a:ext cx="1345216" cy="713794"/>
            <a:chOff x="0" y="0"/>
            <a:chExt cx="1793621" cy="95172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793625" cy="951720"/>
            </a:xfrm>
            <a:custGeom>
              <a:avLst/>
              <a:gdLst/>
              <a:ahLst/>
              <a:cxnLst/>
              <a:rect l="l" t="t" r="r" b="b"/>
              <a:pathLst>
                <a:path w="1793625" h="951720">
                  <a:moveTo>
                    <a:pt x="0" y="0"/>
                  </a:moveTo>
                  <a:lnTo>
                    <a:pt x="1793625" y="0"/>
                  </a:lnTo>
                  <a:lnTo>
                    <a:pt x="1793625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79" r="-18079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1793621" cy="951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MANUFACTURING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2820736" y="3751955"/>
            <a:ext cx="219675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3054117" y="3088510"/>
            <a:ext cx="1482490" cy="1853108"/>
            <a:chOff x="0" y="0"/>
            <a:chExt cx="1976653" cy="247081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976628" cy="2470785"/>
            </a:xfrm>
            <a:custGeom>
              <a:avLst/>
              <a:gdLst/>
              <a:ahLst/>
              <a:cxnLst/>
              <a:rect l="l" t="t" r="r" b="b"/>
              <a:pathLst>
                <a:path w="1976628" h="2470785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lnTo>
                    <a:pt x="1647190" y="0"/>
                  </a:lnTo>
                  <a:cubicBezTo>
                    <a:pt x="1829181" y="0"/>
                    <a:pt x="1976628" y="147447"/>
                    <a:pt x="1976628" y="329438"/>
                  </a:cubicBezTo>
                  <a:lnTo>
                    <a:pt x="1976628" y="2141347"/>
                  </a:lnTo>
                  <a:cubicBezTo>
                    <a:pt x="1976628" y="2323338"/>
                    <a:pt x="1829181" y="2470785"/>
                    <a:pt x="1647190" y="2470785"/>
                  </a:cubicBezTo>
                  <a:lnTo>
                    <a:pt x="329438" y="2470785"/>
                  </a:lnTo>
                  <a:cubicBezTo>
                    <a:pt x="147447" y="2470785"/>
                    <a:pt x="0" y="2323338"/>
                    <a:pt x="0" y="2141347"/>
                  </a:cubicBezTo>
                  <a:close/>
                </a:path>
              </a:pathLst>
            </a:custGeom>
            <a:solidFill>
              <a:srgbClr val="181F1C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3122745" y="3623853"/>
            <a:ext cx="1345216" cy="713794"/>
            <a:chOff x="0" y="0"/>
            <a:chExt cx="1793621" cy="951725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793625" cy="951720"/>
            </a:xfrm>
            <a:custGeom>
              <a:avLst/>
              <a:gdLst/>
              <a:ahLst/>
              <a:cxnLst/>
              <a:rect l="l" t="t" r="r" b="b"/>
              <a:pathLst>
                <a:path w="1793625" h="951720">
                  <a:moveTo>
                    <a:pt x="0" y="0"/>
                  </a:moveTo>
                  <a:lnTo>
                    <a:pt x="1793625" y="0"/>
                  </a:lnTo>
                  <a:lnTo>
                    <a:pt x="1793625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79" r="-18079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1793621" cy="951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NEW</a:t>
              </a:r>
            </a:p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PRODUCT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4564030" y="3751955"/>
            <a:ext cx="219675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4797411" y="3088510"/>
            <a:ext cx="1482490" cy="1853108"/>
            <a:chOff x="0" y="0"/>
            <a:chExt cx="1976653" cy="247081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976628" cy="2470785"/>
            </a:xfrm>
            <a:custGeom>
              <a:avLst/>
              <a:gdLst/>
              <a:ahLst/>
              <a:cxnLst/>
              <a:rect l="l" t="t" r="r" b="b"/>
              <a:pathLst>
                <a:path w="1976628" h="2470785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lnTo>
                    <a:pt x="1647190" y="0"/>
                  </a:lnTo>
                  <a:cubicBezTo>
                    <a:pt x="1829181" y="0"/>
                    <a:pt x="1976628" y="147447"/>
                    <a:pt x="1976628" y="329438"/>
                  </a:cubicBezTo>
                  <a:lnTo>
                    <a:pt x="1976628" y="2141347"/>
                  </a:lnTo>
                  <a:cubicBezTo>
                    <a:pt x="1976628" y="2323338"/>
                    <a:pt x="1829181" y="2470785"/>
                    <a:pt x="1647190" y="2470785"/>
                  </a:cubicBezTo>
                  <a:lnTo>
                    <a:pt x="329438" y="2470785"/>
                  </a:lnTo>
                  <a:cubicBezTo>
                    <a:pt x="147447" y="2470785"/>
                    <a:pt x="0" y="2323338"/>
                    <a:pt x="0" y="2141347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4866039" y="3623853"/>
            <a:ext cx="1345216" cy="713794"/>
            <a:chOff x="0" y="0"/>
            <a:chExt cx="1793621" cy="95172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793625" cy="951720"/>
            </a:xfrm>
            <a:custGeom>
              <a:avLst/>
              <a:gdLst/>
              <a:ahLst/>
              <a:cxnLst/>
              <a:rect l="l" t="t" r="r" b="b"/>
              <a:pathLst>
                <a:path w="1793625" h="951720">
                  <a:moveTo>
                    <a:pt x="0" y="0"/>
                  </a:moveTo>
                  <a:lnTo>
                    <a:pt x="1793625" y="0"/>
                  </a:lnTo>
                  <a:lnTo>
                    <a:pt x="1793625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79" r="-18079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1793621" cy="951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CAMPUS /</a:t>
              </a:r>
            </a:p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MARKET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6307324" y="3751955"/>
            <a:ext cx="219675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6540705" y="3088510"/>
            <a:ext cx="1482490" cy="1853108"/>
            <a:chOff x="0" y="0"/>
            <a:chExt cx="1976653" cy="247081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976628" cy="2470785"/>
            </a:xfrm>
            <a:custGeom>
              <a:avLst/>
              <a:gdLst/>
              <a:ahLst/>
              <a:cxnLst/>
              <a:rect l="l" t="t" r="r" b="b"/>
              <a:pathLst>
                <a:path w="1976628" h="2470785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lnTo>
                    <a:pt x="1647190" y="0"/>
                  </a:lnTo>
                  <a:cubicBezTo>
                    <a:pt x="1829181" y="0"/>
                    <a:pt x="1976628" y="147447"/>
                    <a:pt x="1976628" y="329438"/>
                  </a:cubicBezTo>
                  <a:lnTo>
                    <a:pt x="1976628" y="2141347"/>
                  </a:lnTo>
                  <a:cubicBezTo>
                    <a:pt x="1976628" y="2323338"/>
                    <a:pt x="1829181" y="2470785"/>
                    <a:pt x="1647190" y="2470785"/>
                  </a:cubicBezTo>
                  <a:lnTo>
                    <a:pt x="329438" y="2470785"/>
                  </a:lnTo>
                  <a:cubicBezTo>
                    <a:pt x="147447" y="2470785"/>
                    <a:pt x="0" y="2323338"/>
                    <a:pt x="0" y="2141347"/>
                  </a:cubicBezTo>
                  <a:close/>
                </a:path>
              </a:pathLst>
            </a:custGeom>
            <a:solidFill>
              <a:srgbClr val="D27E3E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6609333" y="3623853"/>
            <a:ext cx="1345216" cy="713794"/>
            <a:chOff x="0" y="0"/>
            <a:chExt cx="1793621" cy="951725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793625" cy="951720"/>
            </a:xfrm>
            <a:custGeom>
              <a:avLst/>
              <a:gdLst/>
              <a:ahLst/>
              <a:cxnLst/>
              <a:rect l="l" t="t" r="r" b="b"/>
              <a:pathLst>
                <a:path w="1793625" h="951720">
                  <a:moveTo>
                    <a:pt x="0" y="0"/>
                  </a:moveTo>
                  <a:lnTo>
                    <a:pt x="1793625" y="0"/>
                  </a:lnTo>
                  <a:lnTo>
                    <a:pt x="1793625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79" r="-18079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1793621" cy="951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IMPACT</a:t>
              </a:r>
            </a:p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029500" y="6245657"/>
            <a:ext cx="16197539" cy="1647206"/>
            <a:chOff x="0" y="0"/>
            <a:chExt cx="21596718" cy="219627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1596731" cy="2196211"/>
            </a:xfrm>
            <a:custGeom>
              <a:avLst/>
              <a:gdLst/>
              <a:ahLst/>
              <a:cxnLst/>
              <a:rect l="l" t="t" r="r" b="b"/>
              <a:pathLst>
                <a:path w="21596731" h="2196211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lnTo>
                    <a:pt x="21230717" y="0"/>
                  </a:lnTo>
                  <a:cubicBezTo>
                    <a:pt x="21432901" y="0"/>
                    <a:pt x="21596731" y="163830"/>
                    <a:pt x="21596731" y="366014"/>
                  </a:cubicBezTo>
                  <a:lnTo>
                    <a:pt x="21596731" y="1830197"/>
                  </a:lnTo>
                  <a:cubicBezTo>
                    <a:pt x="21596731" y="2032381"/>
                    <a:pt x="21432901" y="2196211"/>
                    <a:pt x="21230717" y="2196211"/>
                  </a:cubicBezTo>
                  <a:lnTo>
                    <a:pt x="366014" y="2196211"/>
                  </a:lnTo>
                  <a:cubicBezTo>
                    <a:pt x="163830" y="2196338"/>
                    <a:pt x="0" y="2032381"/>
                    <a:pt x="0" y="1830197"/>
                  </a:cubicBezTo>
                  <a:close/>
                </a:path>
              </a:pathLst>
            </a:custGeom>
            <a:solidFill>
              <a:srgbClr val="E0F0E4"/>
            </a:solidFill>
          </p:spPr>
        </p:sp>
      </p:grpSp>
      <p:sp>
        <p:nvSpPr>
          <p:cNvPr id="70" name="TextBox 70"/>
          <p:cNvSpPr txBox="1"/>
          <p:nvPr/>
        </p:nvSpPr>
        <p:spPr>
          <a:xfrm>
            <a:off x="1400108" y="6638773"/>
            <a:ext cx="3239548" cy="27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DATA FEEDS THE NEXT LOOP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763148" y="6538484"/>
            <a:ext cx="11750116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What was reused?  What was created?  What did it save?  What should the university do next?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15756" y="484994"/>
            <a:ext cx="749483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12 / FINANCIAL PROJECTION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756" y="10066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Illustrative base case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3207" y="1967484"/>
            <a:ext cx="1600540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This is a planning model, not a guaranteed forecast. It assumes setup + subscription are the main revenue sources.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68137" y="9658645"/>
            <a:ext cx="70010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5756" y="9681905"/>
            <a:ext cx="5161293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RE:FORM  /  AIU  /  GREEN LOOP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6932" y="2736180"/>
            <a:ext cx="4680852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METRIC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73089" y="2736180"/>
            <a:ext cx="2965018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YEAR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04775" y="2736180"/>
            <a:ext cx="2965018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YEAR 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36451" y="2736180"/>
            <a:ext cx="4063155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YEAR 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19975" y="3326063"/>
            <a:ext cx="16216598" cy="691677"/>
            <a:chOff x="0" y="0"/>
            <a:chExt cx="21622131" cy="9222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622131" cy="922147"/>
            </a:xfrm>
            <a:custGeom>
              <a:avLst/>
              <a:gdLst/>
              <a:ahLst/>
              <a:cxnLst/>
              <a:rect l="l" t="t" r="r" b="b"/>
              <a:pathLst>
                <a:path w="21622131" h="922147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21468462" y="0"/>
                  </a:lnTo>
                  <a:cubicBezTo>
                    <a:pt x="21553298" y="0"/>
                    <a:pt x="21622131" y="68834"/>
                    <a:pt x="21622131" y="153670"/>
                  </a:cubicBezTo>
                  <a:lnTo>
                    <a:pt x="21622131" y="768477"/>
                  </a:lnTo>
                  <a:cubicBezTo>
                    <a:pt x="21622131" y="853313"/>
                    <a:pt x="21553298" y="922147"/>
                    <a:pt x="21468462" y="922147"/>
                  </a:cubicBezTo>
                  <a:lnTo>
                    <a:pt x="153670" y="922147"/>
                  </a:lnTo>
                  <a:cubicBezTo>
                    <a:pt x="68834" y="922274"/>
                    <a:pt x="0" y="853440"/>
                    <a:pt x="0" y="76847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221657" y="3532327"/>
            <a:ext cx="4351411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University customers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37814" y="3532327"/>
            <a:ext cx="2635577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69491" y="3532327"/>
            <a:ext cx="2635577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01177" y="3532327"/>
            <a:ext cx="3733714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19975" y="4149662"/>
            <a:ext cx="16216598" cy="691677"/>
            <a:chOff x="0" y="0"/>
            <a:chExt cx="21622131" cy="92223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622131" cy="922147"/>
            </a:xfrm>
            <a:custGeom>
              <a:avLst/>
              <a:gdLst/>
              <a:ahLst/>
              <a:cxnLst/>
              <a:rect l="l" t="t" r="r" b="b"/>
              <a:pathLst>
                <a:path w="21622131" h="922147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21468462" y="0"/>
                  </a:lnTo>
                  <a:cubicBezTo>
                    <a:pt x="21553298" y="0"/>
                    <a:pt x="21622131" y="68834"/>
                    <a:pt x="21622131" y="153670"/>
                  </a:cubicBezTo>
                  <a:lnTo>
                    <a:pt x="21622131" y="768477"/>
                  </a:lnTo>
                  <a:cubicBezTo>
                    <a:pt x="21622131" y="853313"/>
                    <a:pt x="21553298" y="922147"/>
                    <a:pt x="21468462" y="922147"/>
                  </a:cubicBezTo>
                  <a:lnTo>
                    <a:pt x="153670" y="922147"/>
                  </a:lnTo>
                  <a:cubicBezTo>
                    <a:pt x="68834" y="922274"/>
                    <a:pt x="0" y="853440"/>
                    <a:pt x="0" y="76847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221657" y="4355935"/>
            <a:ext cx="4351411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Revenue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37814" y="4355935"/>
            <a:ext cx="2635577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EGP 0.40M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69491" y="4355935"/>
            <a:ext cx="2635577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EGP 1.55M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301177" y="4355935"/>
            <a:ext cx="3733714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EGP 4.00M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19975" y="4973269"/>
            <a:ext cx="16216598" cy="691677"/>
            <a:chOff x="0" y="0"/>
            <a:chExt cx="21622131" cy="92223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622131" cy="922147"/>
            </a:xfrm>
            <a:custGeom>
              <a:avLst/>
              <a:gdLst/>
              <a:ahLst/>
              <a:cxnLst/>
              <a:rect l="l" t="t" r="r" b="b"/>
              <a:pathLst>
                <a:path w="21622131" h="922147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21468462" y="0"/>
                  </a:lnTo>
                  <a:cubicBezTo>
                    <a:pt x="21553298" y="0"/>
                    <a:pt x="21622131" y="68834"/>
                    <a:pt x="21622131" y="153670"/>
                  </a:cubicBezTo>
                  <a:lnTo>
                    <a:pt x="21622131" y="768477"/>
                  </a:lnTo>
                  <a:cubicBezTo>
                    <a:pt x="21622131" y="853313"/>
                    <a:pt x="21553298" y="922147"/>
                    <a:pt x="21468462" y="922147"/>
                  </a:cubicBezTo>
                  <a:lnTo>
                    <a:pt x="153670" y="922147"/>
                  </a:lnTo>
                  <a:cubicBezTo>
                    <a:pt x="68834" y="922274"/>
                    <a:pt x="0" y="853440"/>
                    <a:pt x="0" y="76847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221657" y="5179533"/>
            <a:ext cx="4351411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COGS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37814" y="5179533"/>
            <a:ext cx="2635577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EGP 0.18M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69491" y="5179533"/>
            <a:ext cx="2635577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EGP 0.62M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301177" y="5179533"/>
            <a:ext cx="3733714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EGP 1.50M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19975" y="5796867"/>
            <a:ext cx="16216598" cy="691677"/>
            <a:chOff x="0" y="0"/>
            <a:chExt cx="21622131" cy="92223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622131" cy="922147"/>
            </a:xfrm>
            <a:custGeom>
              <a:avLst/>
              <a:gdLst/>
              <a:ahLst/>
              <a:cxnLst/>
              <a:rect l="l" t="t" r="r" b="b"/>
              <a:pathLst>
                <a:path w="21622131" h="922147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21468462" y="0"/>
                  </a:lnTo>
                  <a:cubicBezTo>
                    <a:pt x="21553298" y="0"/>
                    <a:pt x="21622131" y="68834"/>
                    <a:pt x="21622131" y="153670"/>
                  </a:cubicBezTo>
                  <a:lnTo>
                    <a:pt x="21622131" y="768477"/>
                  </a:lnTo>
                  <a:cubicBezTo>
                    <a:pt x="21622131" y="853313"/>
                    <a:pt x="21553298" y="922147"/>
                    <a:pt x="21468462" y="922147"/>
                  </a:cubicBezTo>
                  <a:lnTo>
                    <a:pt x="153670" y="922147"/>
                  </a:lnTo>
                  <a:cubicBezTo>
                    <a:pt x="68834" y="922274"/>
                    <a:pt x="0" y="853440"/>
                    <a:pt x="0" y="76847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221657" y="6003141"/>
            <a:ext cx="4351411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Gross profit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37814" y="6003141"/>
            <a:ext cx="2635577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EGP 0.22M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869491" y="6003141"/>
            <a:ext cx="2635577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EGP 0.93M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301177" y="6003141"/>
            <a:ext cx="3733714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EGP 2.50M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19975" y="6620475"/>
            <a:ext cx="16216598" cy="691677"/>
            <a:chOff x="0" y="0"/>
            <a:chExt cx="21622131" cy="92223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622131" cy="922147"/>
            </a:xfrm>
            <a:custGeom>
              <a:avLst/>
              <a:gdLst/>
              <a:ahLst/>
              <a:cxnLst/>
              <a:rect l="l" t="t" r="r" b="b"/>
              <a:pathLst>
                <a:path w="21622131" h="922147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21468462" y="0"/>
                  </a:lnTo>
                  <a:cubicBezTo>
                    <a:pt x="21553298" y="0"/>
                    <a:pt x="21622131" y="68834"/>
                    <a:pt x="21622131" y="153670"/>
                  </a:cubicBezTo>
                  <a:lnTo>
                    <a:pt x="21622131" y="768477"/>
                  </a:lnTo>
                  <a:cubicBezTo>
                    <a:pt x="21622131" y="853313"/>
                    <a:pt x="21553298" y="922147"/>
                    <a:pt x="21468462" y="922147"/>
                  </a:cubicBezTo>
                  <a:lnTo>
                    <a:pt x="153670" y="922147"/>
                  </a:lnTo>
                  <a:cubicBezTo>
                    <a:pt x="68834" y="922274"/>
                    <a:pt x="0" y="853440"/>
                    <a:pt x="0" y="76847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1221657" y="6826739"/>
            <a:ext cx="4351411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Operating expenses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437814" y="6826739"/>
            <a:ext cx="2635577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EGP 0.35M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869491" y="6826739"/>
            <a:ext cx="2635577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EGP 0.62M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301177" y="6826739"/>
            <a:ext cx="3733714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EGP 1.10M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019975" y="7444083"/>
            <a:ext cx="16216598" cy="691677"/>
            <a:chOff x="0" y="0"/>
            <a:chExt cx="21622131" cy="92223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1622131" cy="922147"/>
            </a:xfrm>
            <a:custGeom>
              <a:avLst/>
              <a:gdLst/>
              <a:ahLst/>
              <a:cxnLst/>
              <a:rect l="l" t="t" r="r" b="b"/>
              <a:pathLst>
                <a:path w="21622131" h="922147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21468462" y="0"/>
                  </a:lnTo>
                  <a:cubicBezTo>
                    <a:pt x="21553298" y="0"/>
                    <a:pt x="21622131" y="68834"/>
                    <a:pt x="21622131" y="153670"/>
                  </a:cubicBezTo>
                  <a:lnTo>
                    <a:pt x="21622131" y="768477"/>
                  </a:lnTo>
                  <a:cubicBezTo>
                    <a:pt x="21622131" y="853313"/>
                    <a:pt x="21553298" y="922147"/>
                    <a:pt x="21468462" y="922147"/>
                  </a:cubicBezTo>
                  <a:lnTo>
                    <a:pt x="153670" y="922147"/>
                  </a:lnTo>
                  <a:cubicBezTo>
                    <a:pt x="68834" y="922274"/>
                    <a:pt x="0" y="853440"/>
                    <a:pt x="0" y="76847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45" name="TextBox 45"/>
          <p:cNvSpPr txBox="1"/>
          <p:nvPr/>
        </p:nvSpPr>
        <p:spPr>
          <a:xfrm>
            <a:off x="1221657" y="7650347"/>
            <a:ext cx="4351411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Net operating result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437814" y="7650347"/>
            <a:ext cx="2635577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-EGP 0.13M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869491" y="7650347"/>
            <a:ext cx="2635577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+EGP 0.31M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301177" y="7650347"/>
            <a:ext cx="3733714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+EGP 1.40M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029500" y="8510568"/>
            <a:ext cx="16197539" cy="658882"/>
            <a:chOff x="0" y="0"/>
            <a:chExt cx="21596718" cy="87851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596731" cy="878459"/>
            </a:xfrm>
            <a:custGeom>
              <a:avLst/>
              <a:gdLst/>
              <a:ahLst/>
              <a:cxnLst/>
              <a:rect l="l" t="t" r="r" b="b"/>
              <a:pathLst>
                <a:path w="21596731" h="878459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21450300" y="0"/>
                  </a:lnTo>
                  <a:cubicBezTo>
                    <a:pt x="21531199" y="0"/>
                    <a:pt x="21596731" y="65532"/>
                    <a:pt x="21596731" y="146431"/>
                  </a:cubicBezTo>
                  <a:lnTo>
                    <a:pt x="21596731" y="732028"/>
                  </a:lnTo>
                  <a:cubicBezTo>
                    <a:pt x="21596731" y="812927"/>
                    <a:pt x="21531199" y="878459"/>
                    <a:pt x="21450300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E0F0E4"/>
            </a:solidFill>
          </p:spPr>
        </p:sp>
      </p:grpSp>
      <p:sp>
        <p:nvSpPr>
          <p:cNvPr id="51" name="TextBox 51"/>
          <p:cNvSpPr txBox="1"/>
          <p:nvPr/>
        </p:nvSpPr>
        <p:spPr>
          <a:xfrm>
            <a:off x="1400108" y="8684057"/>
            <a:ext cx="15456332" cy="247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Base-case assumption: recurring university contracts drive scale; product sales remain upside.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15756" y="484994"/>
            <a:ext cx="749483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12 / FINANCIAL PROJECTION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756" y="10066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Three scenarios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3207" y="1967484"/>
            <a:ext cx="1600540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The model should work without depending on optimistic product sales.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68137" y="9658645"/>
            <a:ext cx="70010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5756" y="9681905"/>
            <a:ext cx="5161293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RE:FORM  /  AIU  /  GREEN LOOP 2026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19975" y="2873083"/>
            <a:ext cx="5166589" cy="5166589"/>
            <a:chOff x="0" y="0"/>
            <a:chExt cx="6888785" cy="68887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88861" cy="6888861"/>
            </a:xfrm>
            <a:custGeom>
              <a:avLst/>
              <a:gdLst/>
              <a:ahLst/>
              <a:cxnLst/>
              <a:rect l="l" t="t" r="r" b="b"/>
              <a:pathLst>
                <a:path w="6888861" h="6888861">
                  <a:moveTo>
                    <a:pt x="0" y="1148207"/>
                  </a:moveTo>
                  <a:cubicBezTo>
                    <a:pt x="0" y="514096"/>
                    <a:pt x="514096" y="0"/>
                    <a:pt x="1148207" y="0"/>
                  </a:cubicBezTo>
                  <a:lnTo>
                    <a:pt x="5740654" y="0"/>
                  </a:lnTo>
                  <a:cubicBezTo>
                    <a:pt x="6374765" y="0"/>
                    <a:pt x="6888861" y="514096"/>
                    <a:pt x="6888861" y="1148207"/>
                  </a:cubicBezTo>
                  <a:lnTo>
                    <a:pt x="6888861" y="5740654"/>
                  </a:lnTo>
                  <a:cubicBezTo>
                    <a:pt x="6888861" y="6374765"/>
                    <a:pt x="6374765" y="6888861"/>
                    <a:pt x="5740654" y="6888861"/>
                  </a:cubicBezTo>
                  <a:lnTo>
                    <a:pt x="1148207" y="6888861"/>
                  </a:lnTo>
                  <a:cubicBezTo>
                    <a:pt x="514096" y="6888734"/>
                    <a:pt x="0" y="6374765"/>
                    <a:pt x="0" y="574065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331490" y="3294412"/>
            <a:ext cx="2264912" cy="521618"/>
            <a:chOff x="0" y="0"/>
            <a:chExt cx="3019882" cy="6954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19933" cy="695579"/>
            </a:xfrm>
            <a:custGeom>
              <a:avLst/>
              <a:gdLst/>
              <a:ahLst/>
              <a:cxnLst/>
              <a:rect l="l" t="t" r="r" b="b"/>
              <a:pathLst>
                <a:path w="3019933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903982" y="0"/>
                  </a:lnTo>
                  <a:cubicBezTo>
                    <a:pt x="2967990" y="0"/>
                    <a:pt x="3019933" y="51943"/>
                    <a:pt x="3019933" y="115951"/>
                  </a:cubicBezTo>
                  <a:lnTo>
                    <a:pt x="3019933" y="579628"/>
                  </a:lnTo>
                  <a:cubicBezTo>
                    <a:pt x="3019933" y="643636"/>
                    <a:pt x="2967990" y="695579"/>
                    <a:pt x="2903982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400127" y="3397367"/>
            <a:ext cx="2127637" cy="274539"/>
            <a:chOff x="0" y="0"/>
            <a:chExt cx="2836850" cy="36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36854" cy="366046"/>
            </a:xfrm>
            <a:custGeom>
              <a:avLst/>
              <a:gdLst/>
              <a:ahLst/>
              <a:cxnLst/>
              <a:rect l="l" t="t" r="r" b="b"/>
              <a:pathLst>
                <a:path w="2836854" h="366046">
                  <a:moveTo>
                    <a:pt x="0" y="0"/>
                  </a:moveTo>
                  <a:lnTo>
                    <a:pt x="2836854" y="0"/>
                  </a:lnTo>
                  <a:lnTo>
                    <a:pt x="2836854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007" b="-10100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2836850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CONSERVATIVE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58922" y="4360135"/>
            <a:ext cx="4200420" cy="522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3 campuses by Year 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8922" y="5303072"/>
            <a:ext cx="420042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EGP 1.5–2.0M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8922" y="6332582"/>
            <a:ext cx="420042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Prove retention + impact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579299" y="2873083"/>
            <a:ext cx="5166589" cy="5166589"/>
            <a:chOff x="0" y="0"/>
            <a:chExt cx="6888785" cy="688878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88861" cy="6888861"/>
            </a:xfrm>
            <a:custGeom>
              <a:avLst/>
              <a:gdLst/>
              <a:ahLst/>
              <a:cxnLst/>
              <a:rect l="l" t="t" r="r" b="b"/>
              <a:pathLst>
                <a:path w="6888861" h="6888861">
                  <a:moveTo>
                    <a:pt x="0" y="1148207"/>
                  </a:moveTo>
                  <a:cubicBezTo>
                    <a:pt x="0" y="514096"/>
                    <a:pt x="514096" y="0"/>
                    <a:pt x="1148207" y="0"/>
                  </a:cubicBezTo>
                  <a:lnTo>
                    <a:pt x="5740654" y="0"/>
                  </a:lnTo>
                  <a:cubicBezTo>
                    <a:pt x="6374765" y="0"/>
                    <a:pt x="6888861" y="514096"/>
                    <a:pt x="6888861" y="1148207"/>
                  </a:cubicBezTo>
                  <a:lnTo>
                    <a:pt x="6888861" y="5740654"/>
                  </a:lnTo>
                  <a:cubicBezTo>
                    <a:pt x="6888861" y="6374765"/>
                    <a:pt x="6374765" y="6888861"/>
                    <a:pt x="5740654" y="6888861"/>
                  </a:cubicBezTo>
                  <a:lnTo>
                    <a:pt x="1148207" y="6888861"/>
                  </a:lnTo>
                  <a:cubicBezTo>
                    <a:pt x="514096" y="6888734"/>
                    <a:pt x="0" y="6374765"/>
                    <a:pt x="0" y="574065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890814" y="3294412"/>
            <a:ext cx="2264912" cy="521618"/>
            <a:chOff x="0" y="0"/>
            <a:chExt cx="3019882" cy="69549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19933" cy="695579"/>
            </a:xfrm>
            <a:custGeom>
              <a:avLst/>
              <a:gdLst/>
              <a:ahLst/>
              <a:cxnLst/>
              <a:rect l="l" t="t" r="r" b="b"/>
              <a:pathLst>
                <a:path w="3019933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903982" y="0"/>
                  </a:lnTo>
                  <a:cubicBezTo>
                    <a:pt x="2967990" y="0"/>
                    <a:pt x="3019933" y="51943"/>
                    <a:pt x="3019933" y="115951"/>
                  </a:cubicBezTo>
                  <a:lnTo>
                    <a:pt x="3019933" y="579628"/>
                  </a:lnTo>
                  <a:cubicBezTo>
                    <a:pt x="3019933" y="643636"/>
                    <a:pt x="2967990" y="695579"/>
                    <a:pt x="2903982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D27E3E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6959451" y="3397367"/>
            <a:ext cx="2127637" cy="274539"/>
            <a:chOff x="0" y="0"/>
            <a:chExt cx="2836850" cy="3660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836854" cy="366046"/>
            </a:xfrm>
            <a:custGeom>
              <a:avLst/>
              <a:gdLst/>
              <a:ahLst/>
              <a:cxnLst/>
              <a:rect l="l" t="t" r="r" b="b"/>
              <a:pathLst>
                <a:path w="2836854" h="366046">
                  <a:moveTo>
                    <a:pt x="0" y="0"/>
                  </a:moveTo>
                  <a:lnTo>
                    <a:pt x="2836854" y="0"/>
                  </a:lnTo>
                  <a:lnTo>
                    <a:pt x="2836854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007" b="-101009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2836850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BASE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918246" y="4360135"/>
            <a:ext cx="4200420" cy="522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10 campuses by Year 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18246" y="5303072"/>
            <a:ext cx="420042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≈ EGP 4.0M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18246" y="6332582"/>
            <a:ext cx="420042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Build repeatable playbook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138622" y="2873083"/>
            <a:ext cx="5166589" cy="5166589"/>
            <a:chOff x="0" y="0"/>
            <a:chExt cx="6888785" cy="688878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888861" cy="6888861"/>
            </a:xfrm>
            <a:custGeom>
              <a:avLst/>
              <a:gdLst/>
              <a:ahLst/>
              <a:cxnLst/>
              <a:rect l="l" t="t" r="r" b="b"/>
              <a:pathLst>
                <a:path w="6888861" h="6888861">
                  <a:moveTo>
                    <a:pt x="0" y="1148207"/>
                  </a:moveTo>
                  <a:cubicBezTo>
                    <a:pt x="0" y="514096"/>
                    <a:pt x="514096" y="0"/>
                    <a:pt x="1148207" y="0"/>
                  </a:cubicBezTo>
                  <a:lnTo>
                    <a:pt x="5740654" y="0"/>
                  </a:lnTo>
                  <a:cubicBezTo>
                    <a:pt x="6374765" y="0"/>
                    <a:pt x="6888861" y="514096"/>
                    <a:pt x="6888861" y="1148207"/>
                  </a:cubicBezTo>
                  <a:lnTo>
                    <a:pt x="6888861" y="5740654"/>
                  </a:lnTo>
                  <a:cubicBezTo>
                    <a:pt x="6888861" y="6374765"/>
                    <a:pt x="6374765" y="6888861"/>
                    <a:pt x="5740654" y="6888861"/>
                  </a:cubicBezTo>
                  <a:lnTo>
                    <a:pt x="1148207" y="6888861"/>
                  </a:lnTo>
                  <a:cubicBezTo>
                    <a:pt x="514096" y="6888734"/>
                    <a:pt x="0" y="6374765"/>
                    <a:pt x="0" y="574065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2450137" y="3294412"/>
            <a:ext cx="2264912" cy="521618"/>
            <a:chOff x="0" y="0"/>
            <a:chExt cx="3019882" cy="69549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019933" cy="695579"/>
            </a:xfrm>
            <a:custGeom>
              <a:avLst/>
              <a:gdLst/>
              <a:ahLst/>
              <a:cxnLst/>
              <a:rect l="l" t="t" r="r" b="b"/>
              <a:pathLst>
                <a:path w="3019933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903982" y="0"/>
                  </a:lnTo>
                  <a:cubicBezTo>
                    <a:pt x="2967990" y="0"/>
                    <a:pt x="3019933" y="51943"/>
                    <a:pt x="3019933" y="115951"/>
                  </a:cubicBezTo>
                  <a:lnTo>
                    <a:pt x="3019933" y="579628"/>
                  </a:lnTo>
                  <a:cubicBezTo>
                    <a:pt x="3019933" y="643636"/>
                    <a:pt x="2967990" y="695579"/>
                    <a:pt x="2903982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2518774" y="3397367"/>
            <a:ext cx="2127637" cy="274539"/>
            <a:chOff x="0" y="0"/>
            <a:chExt cx="2836850" cy="3660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836854" cy="366046"/>
            </a:xfrm>
            <a:custGeom>
              <a:avLst/>
              <a:gdLst/>
              <a:ahLst/>
              <a:cxnLst/>
              <a:rect l="l" t="t" r="r" b="b"/>
              <a:pathLst>
                <a:path w="2836854" h="366046">
                  <a:moveTo>
                    <a:pt x="0" y="0"/>
                  </a:moveTo>
                  <a:lnTo>
                    <a:pt x="2836854" y="0"/>
                  </a:lnTo>
                  <a:lnTo>
                    <a:pt x="2836854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007" b="-101009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836850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OPTIMISTIC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2477569" y="4360135"/>
            <a:ext cx="4200420" cy="522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15+ campuses by Year 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477569" y="5303072"/>
            <a:ext cx="420042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EGP 6.0M+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477569" y="6332582"/>
            <a:ext cx="420042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Expand sponsor network + MENA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029500" y="8373304"/>
            <a:ext cx="16197539" cy="686333"/>
            <a:chOff x="0" y="0"/>
            <a:chExt cx="21596718" cy="91511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1596731" cy="915162"/>
            </a:xfrm>
            <a:custGeom>
              <a:avLst/>
              <a:gdLst/>
              <a:ahLst/>
              <a:cxnLst/>
              <a:rect l="l" t="t" r="r" b="b"/>
              <a:pathLst>
                <a:path w="21596731" h="915162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21444204" y="0"/>
                  </a:lnTo>
                  <a:cubicBezTo>
                    <a:pt x="21528405" y="0"/>
                    <a:pt x="21596731" y="68326"/>
                    <a:pt x="21596731" y="152527"/>
                  </a:cubicBezTo>
                  <a:lnTo>
                    <a:pt x="21596731" y="762635"/>
                  </a:lnTo>
                  <a:cubicBezTo>
                    <a:pt x="21596731" y="846836"/>
                    <a:pt x="21528405" y="915162"/>
                    <a:pt x="21444204" y="915162"/>
                  </a:cubicBezTo>
                  <a:lnTo>
                    <a:pt x="152527" y="915162"/>
                  </a:lnTo>
                  <a:cubicBezTo>
                    <a:pt x="68326" y="915162"/>
                    <a:pt x="0" y="846836"/>
                    <a:pt x="0" y="762635"/>
                  </a:cubicBezTo>
                  <a:close/>
                </a:path>
              </a:pathLst>
            </a:custGeom>
            <a:solidFill>
              <a:srgbClr val="F2EDDE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1400108" y="8560508"/>
            <a:ext cx="15456332" cy="247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1">
                <a:solidFill>
                  <a:srgbClr val="AE433D"/>
                </a:solidFill>
                <a:latin typeface="Aptos Bold"/>
                <a:ea typeface="Aptos Bold"/>
                <a:cs typeface="Aptos Bold"/>
                <a:sym typeface="Aptos Bold"/>
              </a:rPr>
              <a:t>KILL / PIVOT TRIGGER: if universities will not pay for measurable value, redesign the offer before scaling.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15756" y="484994"/>
            <a:ext cx="749483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13 / SUSTAINABILITY IMPACT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756" y="10066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Measure what can actually be audited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3207" y="1967484"/>
            <a:ext cx="1600540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Start with material, financial and participation metrics. Add CO₂ only when a defensible methodology is available.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68137" y="9658645"/>
            <a:ext cx="70010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5756" y="9681905"/>
            <a:ext cx="5161293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RE:FORM  /  AIU  /  GREEN LOOP 2026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19975" y="2735809"/>
            <a:ext cx="5166589" cy="1335376"/>
            <a:chOff x="0" y="0"/>
            <a:chExt cx="6888785" cy="17805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88735" cy="1780502"/>
            </a:xfrm>
            <a:custGeom>
              <a:avLst/>
              <a:gdLst/>
              <a:ahLst/>
              <a:cxnLst/>
              <a:rect l="l" t="t" r="r" b="b"/>
              <a:pathLst>
                <a:path w="6888735" h="1780502">
                  <a:moveTo>
                    <a:pt x="0" y="296737"/>
                  </a:moveTo>
                  <a:cubicBezTo>
                    <a:pt x="0" y="132862"/>
                    <a:pt x="206756" y="0"/>
                    <a:pt x="461772" y="0"/>
                  </a:cubicBezTo>
                  <a:lnTo>
                    <a:pt x="6426962" y="0"/>
                  </a:lnTo>
                  <a:cubicBezTo>
                    <a:pt x="6681978" y="0"/>
                    <a:pt x="6888735" y="132862"/>
                    <a:pt x="6888735" y="296737"/>
                  </a:cubicBezTo>
                  <a:lnTo>
                    <a:pt x="6888735" y="1483765"/>
                  </a:lnTo>
                  <a:cubicBezTo>
                    <a:pt x="6888735" y="1647640"/>
                    <a:pt x="6681978" y="1780502"/>
                    <a:pt x="6426962" y="1780502"/>
                  </a:cubicBezTo>
                  <a:lnTo>
                    <a:pt x="461772" y="1780502"/>
                  </a:lnTo>
                  <a:cubicBezTo>
                    <a:pt x="206756" y="1780502"/>
                    <a:pt x="0" y="1647640"/>
                    <a:pt x="0" y="148376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358922" y="3010710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KG REUSED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8922" y="3614690"/>
            <a:ext cx="4488685" cy="97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Eligible material given a verified second life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579299" y="2735809"/>
            <a:ext cx="5166589" cy="1335376"/>
            <a:chOff x="0" y="0"/>
            <a:chExt cx="6888785" cy="17805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88735" cy="1780502"/>
            </a:xfrm>
            <a:custGeom>
              <a:avLst/>
              <a:gdLst/>
              <a:ahLst/>
              <a:cxnLst/>
              <a:rect l="l" t="t" r="r" b="b"/>
              <a:pathLst>
                <a:path w="6888735" h="1780502">
                  <a:moveTo>
                    <a:pt x="0" y="296737"/>
                  </a:moveTo>
                  <a:cubicBezTo>
                    <a:pt x="0" y="132862"/>
                    <a:pt x="206756" y="0"/>
                    <a:pt x="461772" y="0"/>
                  </a:cubicBezTo>
                  <a:lnTo>
                    <a:pt x="6426962" y="0"/>
                  </a:lnTo>
                  <a:cubicBezTo>
                    <a:pt x="6681978" y="0"/>
                    <a:pt x="6888735" y="132862"/>
                    <a:pt x="6888735" y="296737"/>
                  </a:cubicBezTo>
                  <a:lnTo>
                    <a:pt x="6888735" y="1483765"/>
                  </a:lnTo>
                  <a:cubicBezTo>
                    <a:pt x="6888735" y="1647640"/>
                    <a:pt x="6681978" y="1780502"/>
                    <a:pt x="6426962" y="1780502"/>
                  </a:cubicBezTo>
                  <a:lnTo>
                    <a:pt x="461772" y="1780502"/>
                  </a:lnTo>
                  <a:cubicBezTo>
                    <a:pt x="206756" y="1780502"/>
                    <a:pt x="0" y="1647640"/>
                    <a:pt x="0" y="148376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6918246" y="3010710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KG RECYCLED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18246" y="3614690"/>
            <a:ext cx="4488685" cy="97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Material that reaches an approved recycling route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138622" y="2735809"/>
            <a:ext cx="5166589" cy="1335376"/>
            <a:chOff x="0" y="0"/>
            <a:chExt cx="6888785" cy="17805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88735" cy="1780502"/>
            </a:xfrm>
            <a:custGeom>
              <a:avLst/>
              <a:gdLst/>
              <a:ahLst/>
              <a:cxnLst/>
              <a:rect l="l" t="t" r="r" b="b"/>
              <a:pathLst>
                <a:path w="6888735" h="1780502">
                  <a:moveTo>
                    <a:pt x="0" y="296737"/>
                  </a:moveTo>
                  <a:cubicBezTo>
                    <a:pt x="0" y="132862"/>
                    <a:pt x="206756" y="0"/>
                    <a:pt x="461772" y="0"/>
                  </a:cubicBezTo>
                  <a:lnTo>
                    <a:pt x="6426962" y="0"/>
                  </a:lnTo>
                  <a:cubicBezTo>
                    <a:pt x="6681978" y="0"/>
                    <a:pt x="6888735" y="132862"/>
                    <a:pt x="6888735" y="296737"/>
                  </a:cubicBezTo>
                  <a:lnTo>
                    <a:pt x="6888735" y="1483765"/>
                  </a:lnTo>
                  <a:cubicBezTo>
                    <a:pt x="6888735" y="1647640"/>
                    <a:pt x="6681978" y="1780502"/>
                    <a:pt x="6426962" y="1780502"/>
                  </a:cubicBezTo>
                  <a:lnTo>
                    <a:pt x="461772" y="1780502"/>
                  </a:lnTo>
                  <a:cubicBezTo>
                    <a:pt x="206756" y="1780502"/>
                    <a:pt x="0" y="1647640"/>
                    <a:pt x="0" y="148376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2477569" y="3010710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EGP AVOIDED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77569" y="3614690"/>
            <a:ext cx="4488685" cy="97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Verified procurement value avoided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10460" y="4261685"/>
            <a:ext cx="5166589" cy="1303496"/>
            <a:chOff x="0" y="0"/>
            <a:chExt cx="6888785" cy="173799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888735" cy="1737995"/>
            </a:xfrm>
            <a:custGeom>
              <a:avLst/>
              <a:gdLst/>
              <a:ahLst/>
              <a:cxnLst/>
              <a:rect l="l" t="t" r="r" b="b"/>
              <a:pathLst>
                <a:path w="6888735" h="1737995">
                  <a:moveTo>
                    <a:pt x="0" y="289653"/>
                  </a:moveTo>
                  <a:cubicBezTo>
                    <a:pt x="0" y="129690"/>
                    <a:pt x="206756" y="0"/>
                    <a:pt x="461772" y="0"/>
                  </a:cubicBezTo>
                  <a:lnTo>
                    <a:pt x="6426962" y="0"/>
                  </a:lnTo>
                  <a:cubicBezTo>
                    <a:pt x="6681978" y="0"/>
                    <a:pt x="6888735" y="129690"/>
                    <a:pt x="6888735" y="289653"/>
                  </a:cubicBezTo>
                  <a:lnTo>
                    <a:pt x="6888735" y="1448342"/>
                  </a:lnTo>
                  <a:cubicBezTo>
                    <a:pt x="6888735" y="1608305"/>
                    <a:pt x="6681978" y="1737995"/>
                    <a:pt x="6426962" y="1737995"/>
                  </a:cubicBezTo>
                  <a:lnTo>
                    <a:pt x="461772" y="1737995"/>
                  </a:lnTo>
                  <a:cubicBezTo>
                    <a:pt x="206756" y="1737995"/>
                    <a:pt x="0" y="1608305"/>
                    <a:pt x="0" y="144834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255971" y="4406275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PRODUCTS CREATED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55971" y="5110901"/>
            <a:ext cx="4488685" cy="97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Prototypes / campus assets reaching use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579299" y="4261685"/>
            <a:ext cx="5166589" cy="1303496"/>
            <a:chOff x="0" y="0"/>
            <a:chExt cx="6888785" cy="173799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888735" cy="1737995"/>
            </a:xfrm>
            <a:custGeom>
              <a:avLst/>
              <a:gdLst/>
              <a:ahLst/>
              <a:cxnLst/>
              <a:rect l="l" t="t" r="r" b="b"/>
              <a:pathLst>
                <a:path w="6888735" h="1737995">
                  <a:moveTo>
                    <a:pt x="0" y="289653"/>
                  </a:moveTo>
                  <a:cubicBezTo>
                    <a:pt x="0" y="129690"/>
                    <a:pt x="206756" y="0"/>
                    <a:pt x="461772" y="0"/>
                  </a:cubicBezTo>
                  <a:lnTo>
                    <a:pt x="6426962" y="0"/>
                  </a:lnTo>
                  <a:cubicBezTo>
                    <a:pt x="6681978" y="0"/>
                    <a:pt x="6888735" y="129690"/>
                    <a:pt x="6888735" y="289653"/>
                  </a:cubicBezTo>
                  <a:lnTo>
                    <a:pt x="6888735" y="1448342"/>
                  </a:lnTo>
                  <a:cubicBezTo>
                    <a:pt x="6888735" y="1608305"/>
                    <a:pt x="6681978" y="1737995"/>
                    <a:pt x="6426962" y="1737995"/>
                  </a:cubicBezTo>
                  <a:lnTo>
                    <a:pt x="461772" y="1737995"/>
                  </a:lnTo>
                  <a:cubicBezTo>
                    <a:pt x="206756" y="1737995"/>
                    <a:pt x="0" y="1608305"/>
                    <a:pt x="0" y="144834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6877064" y="4406275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STUDENTS ACTIVE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18250" y="5110901"/>
            <a:ext cx="4488685" cy="97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Students participating in real creation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138622" y="4261685"/>
            <a:ext cx="5166589" cy="1303496"/>
            <a:chOff x="0" y="0"/>
            <a:chExt cx="6888785" cy="173799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888735" cy="1737995"/>
            </a:xfrm>
            <a:custGeom>
              <a:avLst/>
              <a:gdLst/>
              <a:ahLst/>
              <a:cxnLst/>
              <a:rect l="l" t="t" r="r" b="b"/>
              <a:pathLst>
                <a:path w="6888735" h="1737995">
                  <a:moveTo>
                    <a:pt x="0" y="289653"/>
                  </a:moveTo>
                  <a:cubicBezTo>
                    <a:pt x="0" y="129690"/>
                    <a:pt x="206756" y="0"/>
                    <a:pt x="461772" y="0"/>
                  </a:cubicBezTo>
                  <a:lnTo>
                    <a:pt x="6426962" y="0"/>
                  </a:lnTo>
                  <a:cubicBezTo>
                    <a:pt x="6681978" y="0"/>
                    <a:pt x="6888735" y="129690"/>
                    <a:pt x="6888735" y="289653"/>
                  </a:cubicBezTo>
                  <a:lnTo>
                    <a:pt x="6888735" y="1448342"/>
                  </a:lnTo>
                  <a:cubicBezTo>
                    <a:pt x="6888735" y="1608305"/>
                    <a:pt x="6681978" y="1737995"/>
                    <a:pt x="6426962" y="1737995"/>
                  </a:cubicBezTo>
                  <a:lnTo>
                    <a:pt x="461772" y="1737995"/>
                  </a:lnTo>
                  <a:cubicBezTo>
                    <a:pt x="206756" y="1737995"/>
                    <a:pt x="0" y="1608305"/>
                    <a:pt x="0" y="144834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2441212" y="4412913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SECOND-LIFE 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41212" y="5110901"/>
            <a:ext cx="4488685" cy="97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Eligible material successfully reused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10460" y="5898556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Relevant UN Sustainable Development Goals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43207" y="6604449"/>
            <a:ext cx="5166589" cy="1125970"/>
            <a:chOff x="0" y="0"/>
            <a:chExt cx="6888785" cy="150129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888735" cy="1501294"/>
            </a:xfrm>
            <a:custGeom>
              <a:avLst/>
              <a:gdLst/>
              <a:ahLst/>
              <a:cxnLst/>
              <a:rect l="l" t="t" r="r" b="b"/>
              <a:pathLst>
                <a:path w="6888735" h="1501294">
                  <a:moveTo>
                    <a:pt x="0" y="250204"/>
                  </a:moveTo>
                  <a:cubicBezTo>
                    <a:pt x="0" y="112028"/>
                    <a:pt x="206756" y="0"/>
                    <a:pt x="461772" y="0"/>
                  </a:cubicBezTo>
                  <a:lnTo>
                    <a:pt x="6426962" y="0"/>
                  </a:lnTo>
                  <a:cubicBezTo>
                    <a:pt x="6681978" y="0"/>
                    <a:pt x="6888735" y="112028"/>
                    <a:pt x="6888735" y="250204"/>
                  </a:cubicBezTo>
                  <a:lnTo>
                    <a:pt x="6888735" y="1251090"/>
                  </a:lnTo>
                  <a:cubicBezTo>
                    <a:pt x="6888735" y="1389266"/>
                    <a:pt x="6681978" y="1501294"/>
                    <a:pt x="6426962" y="1501294"/>
                  </a:cubicBezTo>
                  <a:lnTo>
                    <a:pt x="461772" y="1501294"/>
                  </a:lnTo>
                  <a:cubicBezTo>
                    <a:pt x="206756" y="1501294"/>
                    <a:pt x="0" y="1389266"/>
                    <a:pt x="0" y="125109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3587123" y="8036666"/>
            <a:ext cx="4978502" cy="1270653"/>
            <a:chOff x="0" y="0"/>
            <a:chExt cx="6888785" cy="150129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888735" cy="1501294"/>
            </a:xfrm>
            <a:custGeom>
              <a:avLst/>
              <a:gdLst/>
              <a:ahLst/>
              <a:cxnLst/>
              <a:rect l="l" t="t" r="r" b="b"/>
              <a:pathLst>
                <a:path w="6888735" h="1501294">
                  <a:moveTo>
                    <a:pt x="0" y="250204"/>
                  </a:moveTo>
                  <a:cubicBezTo>
                    <a:pt x="0" y="112028"/>
                    <a:pt x="206756" y="0"/>
                    <a:pt x="461772" y="0"/>
                  </a:cubicBezTo>
                  <a:lnTo>
                    <a:pt x="6426962" y="0"/>
                  </a:lnTo>
                  <a:cubicBezTo>
                    <a:pt x="6681978" y="0"/>
                    <a:pt x="6888735" y="112028"/>
                    <a:pt x="6888735" y="250204"/>
                  </a:cubicBezTo>
                  <a:lnTo>
                    <a:pt x="6888735" y="1251090"/>
                  </a:lnTo>
                  <a:cubicBezTo>
                    <a:pt x="6888735" y="1389266"/>
                    <a:pt x="6681978" y="1501294"/>
                    <a:pt x="6426962" y="1501294"/>
                  </a:cubicBezTo>
                  <a:lnTo>
                    <a:pt x="461772" y="1501294"/>
                  </a:lnTo>
                  <a:cubicBezTo>
                    <a:pt x="206756" y="1501294"/>
                    <a:pt x="0" y="1389266"/>
                    <a:pt x="0" y="125109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579299" y="6604449"/>
            <a:ext cx="5166589" cy="1125970"/>
            <a:chOff x="0" y="0"/>
            <a:chExt cx="6888785" cy="150129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888735" cy="1501294"/>
            </a:xfrm>
            <a:custGeom>
              <a:avLst/>
              <a:gdLst/>
              <a:ahLst/>
              <a:cxnLst/>
              <a:rect l="l" t="t" r="r" b="b"/>
              <a:pathLst>
                <a:path w="6888735" h="1501294">
                  <a:moveTo>
                    <a:pt x="0" y="250204"/>
                  </a:moveTo>
                  <a:cubicBezTo>
                    <a:pt x="0" y="112028"/>
                    <a:pt x="206756" y="0"/>
                    <a:pt x="461772" y="0"/>
                  </a:cubicBezTo>
                  <a:lnTo>
                    <a:pt x="6426962" y="0"/>
                  </a:lnTo>
                  <a:cubicBezTo>
                    <a:pt x="6681978" y="0"/>
                    <a:pt x="6888735" y="112028"/>
                    <a:pt x="6888735" y="250204"/>
                  </a:cubicBezTo>
                  <a:lnTo>
                    <a:pt x="6888735" y="1251090"/>
                  </a:lnTo>
                  <a:cubicBezTo>
                    <a:pt x="6888735" y="1389266"/>
                    <a:pt x="6681978" y="1501294"/>
                    <a:pt x="6426962" y="1501294"/>
                  </a:cubicBezTo>
                  <a:lnTo>
                    <a:pt x="461772" y="1501294"/>
                  </a:lnTo>
                  <a:cubicBezTo>
                    <a:pt x="206756" y="1501294"/>
                    <a:pt x="0" y="1389266"/>
                    <a:pt x="0" y="125109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9036406" y="7920920"/>
            <a:ext cx="5166589" cy="1125970"/>
            <a:chOff x="0" y="0"/>
            <a:chExt cx="6888785" cy="150129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888735" cy="1501294"/>
            </a:xfrm>
            <a:custGeom>
              <a:avLst/>
              <a:gdLst/>
              <a:ahLst/>
              <a:cxnLst/>
              <a:rect l="l" t="t" r="r" b="b"/>
              <a:pathLst>
                <a:path w="6888735" h="1501294">
                  <a:moveTo>
                    <a:pt x="0" y="250204"/>
                  </a:moveTo>
                  <a:cubicBezTo>
                    <a:pt x="0" y="112028"/>
                    <a:pt x="206756" y="0"/>
                    <a:pt x="461772" y="0"/>
                  </a:cubicBezTo>
                  <a:lnTo>
                    <a:pt x="6426962" y="0"/>
                  </a:lnTo>
                  <a:cubicBezTo>
                    <a:pt x="6681978" y="0"/>
                    <a:pt x="6888735" y="112028"/>
                    <a:pt x="6888735" y="250204"/>
                  </a:cubicBezTo>
                  <a:lnTo>
                    <a:pt x="6888735" y="1251090"/>
                  </a:lnTo>
                  <a:cubicBezTo>
                    <a:pt x="6888735" y="1389266"/>
                    <a:pt x="6681978" y="1501294"/>
                    <a:pt x="6426962" y="1501294"/>
                  </a:cubicBezTo>
                  <a:lnTo>
                    <a:pt x="461772" y="1501294"/>
                  </a:lnTo>
                  <a:cubicBezTo>
                    <a:pt x="206756" y="1501294"/>
                    <a:pt x="0" y="1389266"/>
                    <a:pt x="0" y="125109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2138617" y="6604449"/>
            <a:ext cx="5166589" cy="1125970"/>
            <a:chOff x="0" y="0"/>
            <a:chExt cx="6888785" cy="150129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888735" cy="1501294"/>
            </a:xfrm>
            <a:custGeom>
              <a:avLst/>
              <a:gdLst/>
              <a:ahLst/>
              <a:cxnLst/>
              <a:rect l="l" t="t" r="r" b="b"/>
              <a:pathLst>
                <a:path w="6888735" h="1501294">
                  <a:moveTo>
                    <a:pt x="0" y="250204"/>
                  </a:moveTo>
                  <a:cubicBezTo>
                    <a:pt x="0" y="112028"/>
                    <a:pt x="206756" y="0"/>
                    <a:pt x="461772" y="0"/>
                  </a:cubicBezTo>
                  <a:lnTo>
                    <a:pt x="6426962" y="0"/>
                  </a:lnTo>
                  <a:cubicBezTo>
                    <a:pt x="6681978" y="0"/>
                    <a:pt x="6888735" y="112028"/>
                    <a:pt x="6888735" y="250204"/>
                  </a:cubicBezTo>
                  <a:lnTo>
                    <a:pt x="6888735" y="1251090"/>
                  </a:lnTo>
                  <a:cubicBezTo>
                    <a:pt x="6888735" y="1389266"/>
                    <a:pt x="6681978" y="1501294"/>
                    <a:pt x="6426962" y="1501294"/>
                  </a:cubicBezTo>
                  <a:lnTo>
                    <a:pt x="461772" y="1501294"/>
                  </a:lnTo>
                  <a:cubicBezTo>
                    <a:pt x="206756" y="1501294"/>
                    <a:pt x="0" y="1389266"/>
                    <a:pt x="0" y="125109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255971" y="6720888"/>
            <a:ext cx="990208" cy="396085"/>
            <a:chOff x="0" y="0"/>
            <a:chExt cx="1738719" cy="69549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738757" cy="695579"/>
            </a:xfrm>
            <a:custGeom>
              <a:avLst/>
              <a:gdLst/>
              <a:ahLst/>
              <a:cxnLst/>
              <a:rect l="l" t="t" r="r" b="b"/>
              <a:pathLst>
                <a:path w="1738757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1622806" y="0"/>
                  </a:lnTo>
                  <a:cubicBezTo>
                    <a:pt x="1686814" y="0"/>
                    <a:pt x="1738757" y="51943"/>
                    <a:pt x="1738757" y="115951"/>
                  </a:cubicBezTo>
                  <a:lnTo>
                    <a:pt x="1738757" y="579628"/>
                  </a:lnTo>
                  <a:cubicBezTo>
                    <a:pt x="1738757" y="643636"/>
                    <a:pt x="1686814" y="695579"/>
                    <a:pt x="1622806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167688" y="6781661"/>
            <a:ext cx="1166774" cy="274539"/>
            <a:chOff x="0" y="0"/>
            <a:chExt cx="1555699" cy="36605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555695" cy="366046"/>
            </a:xfrm>
            <a:custGeom>
              <a:avLst/>
              <a:gdLst/>
              <a:ahLst/>
              <a:cxnLst/>
              <a:rect l="l" t="t" r="r" b="b"/>
              <a:pathLst>
                <a:path w="1555695" h="366046">
                  <a:moveTo>
                    <a:pt x="0" y="0"/>
                  </a:moveTo>
                  <a:lnTo>
                    <a:pt x="1555695" y="0"/>
                  </a:lnTo>
                  <a:lnTo>
                    <a:pt x="1555695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810" b="-32812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1555699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SDG 4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441212" y="6713039"/>
            <a:ext cx="990208" cy="396085"/>
            <a:chOff x="0" y="0"/>
            <a:chExt cx="1738719" cy="69549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738757" cy="695579"/>
            </a:xfrm>
            <a:custGeom>
              <a:avLst/>
              <a:gdLst/>
              <a:ahLst/>
              <a:cxnLst/>
              <a:rect l="l" t="t" r="r" b="b"/>
              <a:pathLst>
                <a:path w="1738757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1622806" y="0"/>
                  </a:lnTo>
                  <a:cubicBezTo>
                    <a:pt x="1686814" y="0"/>
                    <a:pt x="1738757" y="51943"/>
                    <a:pt x="1738757" y="115951"/>
                  </a:cubicBezTo>
                  <a:lnTo>
                    <a:pt x="1738757" y="579628"/>
                  </a:lnTo>
                  <a:cubicBezTo>
                    <a:pt x="1738757" y="643636"/>
                    <a:pt x="1686814" y="695579"/>
                    <a:pt x="1622806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9334171" y="8047055"/>
            <a:ext cx="990208" cy="396085"/>
            <a:chOff x="0" y="0"/>
            <a:chExt cx="1738719" cy="69549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738757" cy="695579"/>
            </a:xfrm>
            <a:custGeom>
              <a:avLst/>
              <a:gdLst/>
              <a:ahLst/>
              <a:cxnLst/>
              <a:rect l="l" t="t" r="r" b="b"/>
              <a:pathLst>
                <a:path w="1738757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1622806" y="0"/>
                  </a:lnTo>
                  <a:cubicBezTo>
                    <a:pt x="1686814" y="0"/>
                    <a:pt x="1738757" y="51943"/>
                    <a:pt x="1738757" y="115951"/>
                  </a:cubicBezTo>
                  <a:lnTo>
                    <a:pt x="1738757" y="579628"/>
                  </a:lnTo>
                  <a:cubicBezTo>
                    <a:pt x="1738757" y="643636"/>
                    <a:pt x="1686814" y="695579"/>
                    <a:pt x="1622806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6918246" y="6720888"/>
            <a:ext cx="990208" cy="396085"/>
            <a:chOff x="0" y="0"/>
            <a:chExt cx="1738719" cy="69549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738757" cy="695579"/>
            </a:xfrm>
            <a:custGeom>
              <a:avLst/>
              <a:gdLst/>
              <a:ahLst/>
              <a:cxnLst/>
              <a:rect l="l" t="t" r="r" b="b"/>
              <a:pathLst>
                <a:path w="1738757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1622806" y="0"/>
                  </a:lnTo>
                  <a:cubicBezTo>
                    <a:pt x="1686814" y="0"/>
                    <a:pt x="1738757" y="51943"/>
                    <a:pt x="1738757" y="115951"/>
                  </a:cubicBezTo>
                  <a:lnTo>
                    <a:pt x="1738757" y="579628"/>
                  </a:lnTo>
                  <a:cubicBezTo>
                    <a:pt x="1738757" y="643636"/>
                    <a:pt x="1686814" y="695579"/>
                    <a:pt x="1622806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D27E3E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3713078" y="8047055"/>
            <a:ext cx="990208" cy="396085"/>
            <a:chOff x="0" y="0"/>
            <a:chExt cx="1738719" cy="69549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738757" cy="695579"/>
            </a:xfrm>
            <a:custGeom>
              <a:avLst/>
              <a:gdLst/>
              <a:ahLst/>
              <a:cxnLst/>
              <a:rect l="l" t="t" r="r" b="b"/>
              <a:pathLst>
                <a:path w="1738757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1622806" y="0"/>
                  </a:lnTo>
                  <a:cubicBezTo>
                    <a:pt x="1686814" y="0"/>
                    <a:pt x="1738757" y="51943"/>
                    <a:pt x="1738757" y="115951"/>
                  </a:cubicBezTo>
                  <a:lnTo>
                    <a:pt x="1738757" y="579628"/>
                  </a:lnTo>
                  <a:cubicBezTo>
                    <a:pt x="1738757" y="643636"/>
                    <a:pt x="1686814" y="695579"/>
                    <a:pt x="1622806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D27E3E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6829962" y="6773812"/>
            <a:ext cx="1166774" cy="274539"/>
            <a:chOff x="0" y="0"/>
            <a:chExt cx="1555699" cy="36605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555695" cy="366046"/>
            </a:xfrm>
            <a:custGeom>
              <a:avLst/>
              <a:gdLst/>
              <a:ahLst/>
              <a:cxnLst/>
              <a:rect l="l" t="t" r="r" b="b"/>
              <a:pathLst>
                <a:path w="1555695" h="366046">
                  <a:moveTo>
                    <a:pt x="0" y="0"/>
                  </a:moveTo>
                  <a:lnTo>
                    <a:pt x="1555695" y="0"/>
                  </a:lnTo>
                  <a:lnTo>
                    <a:pt x="1555695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810" b="-32812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1555699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SDG 9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389286" y="6773812"/>
            <a:ext cx="1166774" cy="274539"/>
            <a:chOff x="0" y="0"/>
            <a:chExt cx="1555699" cy="36605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555695" cy="366046"/>
            </a:xfrm>
            <a:custGeom>
              <a:avLst/>
              <a:gdLst/>
              <a:ahLst/>
              <a:cxnLst/>
              <a:rect l="l" t="t" r="r" b="b"/>
              <a:pathLst>
                <a:path w="1555695" h="366046">
                  <a:moveTo>
                    <a:pt x="0" y="0"/>
                  </a:moveTo>
                  <a:lnTo>
                    <a:pt x="1555695" y="0"/>
                  </a:lnTo>
                  <a:lnTo>
                    <a:pt x="1555695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810" b="-32812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9525"/>
              <a:ext cx="1555699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SDG 11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624795" y="8107828"/>
            <a:ext cx="1166774" cy="274539"/>
            <a:chOff x="0" y="0"/>
            <a:chExt cx="1555699" cy="36605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555695" cy="366046"/>
            </a:xfrm>
            <a:custGeom>
              <a:avLst/>
              <a:gdLst/>
              <a:ahLst/>
              <a:cxnLst/>
              <a:rect l="l" t="t" r="r" b="b"/>
              <a:pathLst>
                <a:path w="1555695" h="366046">
                  <a:moveTo>
                    <a:pt x="0" y="0"/>
                  </a:moveTo>
                  <a:lnTo>
                    <a:pt x="1555695" y="0"/>
                  </a:lnTo>
                  <a:lnTo>
                    <a:pt x="1555695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810" b="-32812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9525"/>
              <a:ext cx="1555699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SDG 12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245888" y="8107828"/>
            <a:ext cx="1166774" cy="274539"/>
            <a:chOff x="0" y="0"/>
            <a:chExt cx="1555699" cy="36605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555695" cy="366046"/>
            </a:xfrm>
            <a:custGeom>
              <a:avLst/>
              <a:gdLst/>
              <a:ahLst/>
              <a:cxnLst/>
              <a:rect l="l" t="t" r="r" b="b"/>
              <a:pathLst>
                <a:path w="1555695" h="366046">
                  <a:moveTo>
                    <a:pt x="0" y="0"/>
                  </a:moveTo>
                  <a:lnTo>
                    <a:pt x="1555695" y="0"/>
                  </a:lnTo>
                  <a:lnTo>
                    <a:pt x="1555695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810" b="-32812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9525"/>
              <a:ext cx="1555699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SDG 13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2334462" y="6790786"/>
            <a:ext cx="3788616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Quality Education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255971" y="7259848"/>
            <a:ext cx="9553842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Hands-on circular design and project-based learning.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994179" y="6790786"/>
            <a:ext cx="3788616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Industry, Innovation &amp; Infrastructure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918246" y="7259848"/>
            <a:ext cx="9553842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Prototyping, applied technology and circular production.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3517145" y="6790786"/>
            <a:ext cx="3788616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Sustainable Cities &amp; Communities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2441212" y="7251999"/>
            <a:ext cx="9553842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More resource-efficient campus operations.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4763172" y="8116953"/>
            <a:ext cx="3788616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Responsible Consumption &amp; Production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727546" y="8702846"/>
            <a:ext cx="4195375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Core fit: reuse, repurpose, repair and responsible material flows.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414378" y="8116953"/>
            <a:ext cx="3788616" cy="26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Climate Action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334171" y="8483905"/>
            <a:ext cx="4667107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Potential contribution through avoided production/disposal — quantify only with a defensible method.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15756" y="484994"/>
            <a:ext cx="749483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14 / RISK MANAGEMENT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756" y="10066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The risks the jury will test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68137" y="9658645"/>
            <a:ext cx="70010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5756" y="9681905"/>
            <a:ext cx="5161293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RE:FORM  /  AIU  /  GREEN LOOP 2026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14609" y="1821094"/>
            <a:ext cx="5152854" cy="849116"/>
            <a:chOff x="0" y="0"/>
            <a:chExt cx="6870471" cy="11321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70472" cy="1132074"/>
            </a:xfrm>
            <a:custGeom>
              <a:avLst/>
              <a:gdLst/>
              <a:ahLst/>
              <a:cxnLst/>
              <a:rect l="l" t="t" r="r" b="b"/>
              <a:pathLst>
                <a:path w="6870472" h="1132074">
                  <a:moveTo>
                    <a:pt x="0" y="188634"/>
                  </a:moveTo>
                  <a:cubicBezTo>
                    <a:pt x="0" y="84495"/>
                    <a:pt x="25343" y="0"/>
                    <a:pt x="56577" y="0"/>
                  </a:cubicBezTo>
                  <a:lnTo>
                    <a:pt x="6813894" y="0"/>
                  </a:lnTo>
                  <a:cubicBezTo>
                    <a:pt x="6845169" y="0"/>
                    <a:pt x="6870472" y="84495"/>
                    <a:pt x="6870472" y="188634"/>
                  </a:cubicBezTo>
                  <a:lnTo>
                    <a:pt x="6870472" y="943439"/>
                  </a:lnTo>
                  <a:cubicBezTo>
                    <a:pt x="6870472" y="1047713"/>
                    <a:pt x="6845129" y="1132073"/>
                    <a:pt x="6813894" y="1132073"/>
                  </a:cubicBezTo>
                  <a:lnTo>
                    <a:pt x="56577" y="1132073"/>
                  </a:lnTo>
                  <a:cubicBezTo>
                    <a:pt x="25343" y="1132205"/>
                    <a:pt x="0" y="1047713"/>
                    <a:pt x="0" y="9434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367281" y="2068544"/>
            <a:ext cx="3582714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Safety / contamination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7281" y="2349894"/>
            <a:ext cx="11544214" cy="320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Eligibility checklist + inspection + approved handling.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39614" y="1821094"/>
            <a:ext cx="5152854" cy="849116"/>
            <a:chOff x="0" y="0"/>
            <a:chExt cx="6870471" cy="113215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70472" cy="1132074"/>
            </a:xfrm>
            <a:custGeom>
              <a:avLst/>
              <a:gdLst/>
              <a:ahLst/>
              <a:cxnLst/>
              <a:rect l="l" t="t" r="r" b="b"/>
              <a:pathLst>
                <a:path w="6870472" h="1132074">
                  <a:moveTo>
                    <a:pt x="0" y="188634"/>
                  </a:moveTo>
                  <a:cubicBezTo>
                    <a:pt x="0" y="84495"/>
                    <a:pt x="25343" y="0"/>
                    <a:pt x="56577" y="0"/>
                  </a:cubicBezTo>
                  <a:lnTo>
                    <a:pt x="6813894" y="0"/>
                  </a:lnTo>
                  <a:cubicBezTo>
                    <a:pt x="6845169" y="0"/>
                    <a:pt x="6870472" y="84495"/>
                    <a:pt x="6870472" y="188634"/>
                  </a:cubicBezTo>
                  <a:lnTo>
                    <a:pt x="6870472" y="943439"/>
                  </a:lnTo>
                  <a:cubicBezTo>
                    <a:pt x="6870472" y="1047713"/>
                    <a:pt x="6845129" y="1132073"/>
                    <a:pt x="6813894" y="1132073"/>
                  </a:cubicBezTo>
                  <a:lnTo>
                    <a:pt x="56577" y="1132073"/>
                  </a:lnTo>
                  <a:cubicBezTo>
                    <a:pt x="25343" y="1132205"/>
                    <a:pt x="0" y="1047713"/>
                    <a:pt x="0" y="9434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6713864" y="2068544"/>
            <a:ext cx="3582714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Ownership / IP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13864" y="2358266"/>
            <a:ext cx="11544214" cy="320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Written ownership policy before collection or public use.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063942" y="1821094"/>
            <a:ext cx="5396335" cy="849116"/>
            <a:chOff x="0" y="0"/>
            <a:chExt cx="7195113" cy="113215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95114" cy="1132074"/>
            </a:xfrm>
            <a:custGeom>
              <a:avLst/>
              <a:gdLst/>
              <a:ahLst/>
              <a:cxnLst/>
              <a:rect l="l" t="t" r="r" b="b"/>
              <a:pathLst>
                <a:path w="7195114" h="1132074">
                  <a:moveTo>
                    <a:pt x="0" y="188634"/>
                  </a:moveTo>
                  <a:cubicBezTo>
                    <a:pt x="0" y="84495"/>
                    <a:pt x="26540" y="0"/>
                    <a:pt x="59250" y="0"/>
                  </a:cubicBezTo>
                  <a:lnTo>
                    <a:pt x="7135863" y="0"/>
                  </a:lnTo>
                  <a:cubicBezTo>
                    <a:pt x="7168616" y="0"/>
                    <a:pt x="7195114" y="84495"/>
                    <a:pt x="7195114" y="188634"/>
                  </a:cubicBezTo>
                  <a:lnTo>
                    <a:pt x="7195114" y="943439"/>
                  </a:lnTo>
                  <a:cubicBezTo>
                    <a:pt x="7195114" y="1047713"/>
                    <a:pt x="7168573" y="1132073"/>
                    <a:pt x="7135863" y="1132073"/>
                  </a:cubicBezTo>
                  <a:lnTo>
                    <a:pt x="59250" y="1132073"/>
                  </a:lnTo>
                  <a:cubicBezTo>
                    <a:pt x="26540" y="1132205"/>
                    <a:pt x="0" y="1047713"/>
                    <a:pt x="0" y="9434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235392" y="2068544"/>
            <a:ext cx="3582714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Storage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19126" y="2349894"/>
            <a:ext cx="7181837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Capacity limits + batch intake windows + clear inventory status.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10389" y="2897657"/>
            <a:ext cx="5157073" cy="801491"/>
            <a:chOff x="0" y="0"/>
            <a:chExt cx="6876097" cy="106865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76098" cy="1068578"/>
            </a:xfrm>
            <a:custGeom>
              <a:avLst/>
              <a:gdLst/>
              <a:ahLst/>
              <a:cxnLst/>
              <a:rect l="l" t="t" r="r" b="b"/>
              <a:pathLst>
                <a:path w="6876098" h="1068578">
                  <a:moveTo>
                    <a:pt x="0" y="178054"/>
                  </a:moveTo>
                  <a:cubicBezTo>
                    <a:pt x="0" y="79756"/>
                    <a:pt x="25363" y="0"/>
                    <a:pt x="56623" y="0"/>
                  </a:cubicBezTo>
                  <a:lnTo>
                    <a:pt x="6819474" y="0"/>
                  </a:lnTo>
                  <a:cubicBezTo>
                    <a:pt x="6850775" y="0"/>
                    <a:pt x="6876098" y="79756"/>
                    <a:pt x="6876098" y="178054"/>
                  </a:cubicBezTo>
                  <a:lnTo>
                    <a:pt x="6876098" y="890524"/>
                  </a:lnTo>
                  <a:cubicBezTo>
                    <a:pt x="6876098" y="988949"/>
                    <a:pt x="6850734" y="1068578"/>
                    <a:pt x="6819474" y="1068578"/>
                  </a:cubicBezTo>
                  <a:lnTo>
                    <a:pt x="56623" y="1068578"/>
                  </a:lnTo>
                  <a:cubicBezTo>
                    <a:pt x="25363" y="1068705"/>
                    <a:pt x="0" y="988949"/>
                    <a:pt x="0" y="89052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367281" y="3060440"/>
            <a:ext cx="3582714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AI errors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7281" y="3317453"/>
            <a:ext cx="11544214" cy="320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Human approval; AI suggestions never authorize use.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532138" y="2897657"/>
            <a:ext cx="5157073" cy="801491"/>
            <a:chOff x="0" y="0"/>
            <a:chExt cx="6876097" cy="106865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76098" cy="1068578"/>
            </a:xfrm>
            <a:custGeom>
              <a:avLst/>
              <a:gdLst/>
              <a:ahLst/>
              <a:cxnLst/>
              <a:rect l="l" t="t" r="r" b="b"/>
              <a:pathLst>
                <a:path w="6876098" h="1068578">
                  <a:moveTo>
                    <a:pt x="0" y="178054"/>
                  </a:moveTo>
                  <a:cubicBezTo>
                    <a:pt x="0" y="79756"/>
                    <a:pt x="25363" y="0"/>
                    <a:pt x="56623" y="0"/>
                  </a:cubicBezTo>
                  <a:lnTo>
                    <a:pt x="6819474" y="0"/>
                  </a:lnTo>
                  <a:cubicBezTo>
                    <a:pt x="6850775" y="0"/>
                    <a:pt x="6876098" y="79756"/>
                    <a:pt x="6876098" y="178054"/>
                  </a:cubicBezTo>
                  <a:lnTo>
                    <a:pt x="6876098" y="890524"/>
                  </a:lnTo>
                  <a:cubicBezTo>
                    <a:pt x="6876098" y="988949"/>
                    <a:pt x="6850734" y="1068578"/>
                    <a:pt x="6819474" y="1068578"/>
                  </a:cubicBezTo>
                  <a:lnTo>
                    <a:pt x="56623" y="1068578"/>
                  </a:lnTo>
                  <a:cubicBezTo>
                    <a:pt x="25363" y="1068705"/>
                    <a:pt x="0" y="988949"/>
                    <a:pt x="0" y="89052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6889030" y="3021482"/>
            <a:ext cx="3582714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Low student demand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38419" y="3329330"/>
            <a:ext cx="11544214" cy="320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Challenge briefs + faculty integration + prototype incentives.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2051161" y="2897657"/>
            <a:ext cx="5409117" cy="801491"/>
            <a:chOff x="0" y="0"/>
            <a:chExt cx="7212155" cy="106865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212156" cy="1068578"/>
            </a:xfrm>
            <a:custGeom>
              <a:avLst/>
              <a:gdLst/>
              <a:ahLst/>
              <a:cxnLst/>
              <a:rect l="l" t="t" r="r" b="b"/>
              <a:pathLst>
                <a:path w="7212156" h="1068578">
                  <a:moveTo>
                    <a:pt x="0" y="178054"/>
                  </a:moveTo>
                  <a:cubicBezTo>
                    <a:pt x="0" y="79756"/>
                    <a:pt x="26603" y="0"/>
                    <a:pt x="59391" y="0"/>
                  </a:cubicBezTo>
                  <a:lnTo>
                    <a:pt x="7152765" y="0"/>
                  </a:lnTo>
                  <a:cubicBezTo>
                    <a:pt x="7185595" y="0"/>
                    <a:pt x="7212156" y="79756"/>
                    <a:pt x="7212156" y="178054"/>
                  </a:cubicBezTo>
                  <a:lnTo>
                    <a:pt x="7212156" y="890524"/>
                  </a:lnTo>
                  <a:cubicBezTo>
                    <a:pt x="7212156" y="988949"/>
                    <a:pt x="7185552" y="1068578"/>
                    <a:pt x="7152765" y="1068578"/>
                  </a:cubicBezTo>
                  <a:lnTo>
                    <a:pt x="59391" y="1068578"/>
                  </a:lnTo>
                  <a:cubicBezTo>
                    <a:pt x="26603" y="1068705"/>
                    <a:pt x="0" y="988949"/>
                    <a:pt x="0" y="89052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2219126" y="3021482"/>
            <a:ext cx="3582714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No buyer for outputs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219126" y="3317453"/>
            <a:ext cx="11544214" cy="320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Prioritize campus use before market sales.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4726495" y="3992756"/>
            <a:ext cx="8628090" cy="801491"/>
            <a:chOff x="0" y="0"/>
            <a:chExt cx="11504120" cy="106865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504121" cy="1068578"/>
            </a:xfrm>
            <a:custGeom>
              <a:avLst/>
              <a:gdLst/>
              <a:ahLst/>
              <a:cxnLst/>
              <a:rect l="l" t="t" r="r" b="b"/>
              <a:pathLst>
                <a:path w="11504121" h="1068578">
                  <a:moveTo>
                    <a:pt x="0" y="178054"/>
                  </a:moveTo>
                  <a:cubicBezTo>
                    <a:pt x="0" y="79756"/>
                    <a:pt x="42434" y="0"/>
                    <a:pt x="94734" y="0"/>
                  </a:cubicBezTo>
                  <a:lnTo>
                    <a:pt x="11409387" y="0"/>
                  </a:lnTo>
                  <a:cubicBezTo>
                    <a:pt x="11461754" y="0"/>
                    <a:pt x="11504121" y="79756"/>
                    <a:pt x="11504121" y="178054"/>
                  </a:cubicBezTo>
                  <a:lnTo>
                    <a:pt x="11504121" y="890524"/>
                  </a:lnTo>
                  <a:cubicBezTo>
                    <a:pt x="11504121" y="988949"/>
                    <a:pt x="11461686" y="1068578"/>
                    <a:pt x="11409387" y="1068578"/>
                  </a:cubicBezTo>
                  <a:lnTo>
                    <a:pt x="94734" y="1068578"/>
                  </a:lnTo>
                  <a:cubicBezTo>
                    <a:pt x="42434" y="1068705"/>
                    <a:pt x="0" y="988949"/>
                    <a:pt x="0" y="89052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4947062" y="4278540"/>
            <a:ext cx="3582714" cy="2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Financial risk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39389" y="4278540"/>
            <a:ext cx="11544214" cy="320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Pilot gates + supplier quotes + cost-per-batch tracking.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66308" y="508952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AIU-specific SWOT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28700" y="5841997"/>
            <a:ext cx="6716747" cy="1759915"/>
            <a:chOff x="0" y="0"/>
            <a:chExt cx="9804464" cy="256895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804477" cy="2569020"/>
            </a:xfrm>
            <a:custGeom>
              <a:avLst/>
              <a:gdLst/>
              <a:ahLst/>
              <a:cxnLst/>
              <a:rect l="l" t="t" r="r" b="b"/>
              <a:pathLst>
                <a:path w="9804477" h="2569020">
                  <a:moveTo>
                    <a:pt x="0" y="428202"/>
                  </a:moveTo>
                  <a:cubicBezTo>
                    <a:pt x="0" y="191740"/>
                    <a:pt x="220133" y="0"/>
                    <a:pt x="491611" y="0"/>
                  </a:cubicBezTo>
                  <a:lnTo>
                    <a:pt x="9312865" y="0"/>
                  </a:lnTo>
                  <a:cubicBezTo>
                    <a:pt x="9584342" y="0"/>
                    <a:pt x="9804477" y="191740"/>
                    <a:pt x="9804477" y="428202"/>
                  </a:cubicBezTo>
                  <a:lnTo>
                    <a:pt x="9804477" y="2140805"/>
                  </a:lnTo>
                  <a:cubicBezTo>
                    <a:pt x="9804477" y="2377267"/>
                    <a:pt x="9584342" y="2569020"/>
                    <a:pt x="9312865" y="2569020"/>
                  </a:cubicBezTo>
                  <a:lnTo>
                    <a:pt x="491611" y="2569020"/>
                  </a:lnTo>
                  <a:cubicBezTo>
                    <a:pt x="220133" y="2569020"/>
                    <a:pt x="0" y="2377267"/>
                    <a:pt x="0" y="21408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313246" y="6101477"/>
            <a:ext cx="1943450" cy="476460"/>
            <a:chOff x="0" y="0"/>
            <a:chExt cx="2836862" cy="69549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836926" cy="695579"/>
            </a:xfrm>
            <a:custGeom>
              <a:avLst/>
              <a:gdLst/>
              <a:ahLst/>
              <a:cxnLst/>
              <a:rect l="l" t="t" r="r" b="b"/>
              <a:pathLst>
                <a:path w="2836926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720975" y="0"/>
                  </a:lnTo>
                  <a:cubicBezTo>
                    <a:pt x="2784983" y="0"/>
                    <a:pt x="2836926" y="51943"/>
                    <a:pt x="2836926" y="115951"/>
                  </a:cubicBezTo>
                  <a:lnTo>
                    <a:pt x="2836926" y="579628"/>
                  </a:lnTo>
                  <a:cubicBezTo>
                    <a:pt x="2836926" y="643636"/>
                    <a:pt x="2784983" y="695579"/>
                    <a:pt x="272097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375941" y="6195511"/>
            <a:ext cx="1818060" cy="250771"/>
            <a:chOff x="0" y="0"/>
            <a:chExt cx="2653830" cy="36605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653833" cy="366046"/>
            </a:xfrm>
            <a:custGeom>
              <a:avLst/>
              <a:gdLst/>
              <a:ahLst/>
              <a:cxnLst/>
              <a:rect l="l" t="t" r="r" b="b"/>
              <a:pathLst>
                <a:path w="2653833" h="366046">
                  <a:moveTo>
                    <a:pt x="0" y="0"/>
                  </a:moveTo>
                  <a:lnTo>
                    <a:pt x="2653833" y="0"/>
                  </a:lnTo>
                  <a:lnTo>
                    <a:pt x="265383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1265" b="-91267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2653830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STRENGTHS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338303" y="6782709"/>
            <a:ext cx="6407143" cy="819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9"/>
              </a:lnSpc>
            </a:pPr>
            <a:r>
              <a:rPr lang="en-US" sz="1508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Interdisciplinary student talent • visible physical demo • measurable material loop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066308" y="7761951"/>
            <a:ext cx="6679138" cy="1759915"/>
            <a:chOff x="0" y="0"/>
            <a:chExt cx="9749566" cy="256895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749579" cy="2569020"/>
            </a:xfrm>
            <a:custGeom>
              <a:avLst/>
              <a:gdLst/>
              <a:ahLst/>
              <a:cxnLst/>
              <a:rect l="l" t="t" r="r" b="b"/>
              <a:pathLst>
                <a:path w="9749579" h="2569020">
                  <a:moveTo>
                    <a:pt x="0" y="428202"/>
                  </a:moveTo>
                  <a:cubicBezTo>
                    <a:pt x="0" y="191740"/>
                    <a:pt x="218900" y="0"/>
                    <a:pt x="488858" y="0"/>
                  </a:cubicBezTo>
                  <a:lnTo>
                    <a:pt x="9260720" y="0"/>
                  </a:lnTo>
                  <a:cubicBezTo>
                    <a:pt x="9530678" y="0"/>
                    <a:pt x="9749579" y="191740"/>
                    <a:pt x="9749579" y="428202"/>
                  </a:cubicBezTo>
                  <a:lnTo>
                    <a:pt x="9749579" y="2140805"/>
                  </a:lnTo>
                  <a:cubicBezTo>
                    <a:pt x="9749579" y="2377267"/>
                    <a:pt x="9530678" y="2569020"/>
                    <a:pt x="9260720" y="2569020"/>
                  </a:cubicBezTo>
                  <a:lnTo>
                    <a:pt x="488858" y="2569020"/>
                  </a:lnTo>
                  <a:cubicBezTo>
                    <a:pt x="218900" y="2569020"/>
                    <a:pt x="0" y="2377267"/>
                    <a:pt x="0" y="21408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313246" y="7992437"/>
            <a:ext cx="1943450" cy="476460"/>
            <a:chOff x="0" y="0"/>
            <a:chExt cx="2836862" cy="69549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836926" cy="695579"/>
            </a:xfrm>
            <a:custGeom>
              <a:avLst/>
              <a:gdLst/>
              <a:ahLst/>
              <a:cxnLst/>
              <a:rect l="l" t="t" r="r" b="b"/>
              <a:pathLst>
                <a:path w="2836926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720975" y="0"/>
                  </a:lnTo>
                  <a:cubicBezTo>
                    <a:pt x="2784983" y="0"/>
                    <a:pt x="2836926" y="51943"/>
                    <a:pt x="2836926" y="115951"/>
                  </a:cubicBezTo>
                  <a:lnTo>
                    <a:pt x="2836926" y="579628"/>
                  </a:lnTo>
                  <a:cubicBezTo>
                    <a:pt x="2836926" y="643636"/>
                    <a:pt x="2784983" y="695579"/>
                    <a:pt x="272097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1340579" y="8105281"/>
            <a:ext cx="1818060" cy="250771"/>
            <a:chOff x="0" y="0"/>
            <a:chExt cx="2653830" cy="36605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653833" cy="366046"/>
            </a:xfrm>
            <a:custGeom>
              <a:avLst/>
              <a:gdLst/>
              <a:ahLst/>
              <a:cxnLst/>
              <a:rect l="l" t="t" r="r" b="b"/>
              <a:pathLst>
                <a:path w="2653833" h="366046">
                  <a:moveTo>
                    <a:pt x="0" y="0"/>
                  </a:moveTo>
                  <a:lnTo>
                    <a:pt x="2653833" y="0"/>
                  </a:lnTo>
                  <a:lnTo>
                    <a:pt x="265383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1265" b="-91267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2653830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OPPORTUNITIES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066308" y="8687972"/>
            <a:ext cx="70144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sz="1509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Campus procurement savings • sponsored challenges • replication across Egyptian universities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8080709" y="5841997"/>
            <a:ext cx="6675010" cy="1759915"/>
            <a:chOff x="0" y="0"/>
            <a:chExt cx="9743540" cy="256895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743553" cy="2569020"/>
            </a:xfrm>
            <a:custGeom>
              <a:avLst/>
              <a:gdLst/>
              <a:ahLst/>
              <a:cxnLst/>
              <a:rect l="l" t="t" r="r" b="b"/>
              <a:pathLst>
                <a:path w="9743553" h="2569020">
                  <a:moveTo>
                    <a:pt x="0" y="428202"/>
                  </a:moveTo>
                  <a:cubicBezTo>
                    <a:pt x="0" y="191740"/>
                    <a:pt x="218765" y="0"/>
                    <a:pt x="488556" y="0"/>
                  </a:cubicBezTo>
                  <a:lnTo>
                    <a:pt x="9254996" y="0"/>
                  </a:lnTo>
                  <a:cubicBezTo>
                    <a:pt x="9524787" y="0"/>
                    <a:pt x="9743553" y="191740"/>
                    <a:pt x="9743553" y="428202"/>
                  </a:cubicBezTo>
                  <a:lnTo>
                    <a:pt x="9743553" y="2140805"/>
                  </a:lnTo>
                  <a:cubicBezTo>
                    <a:pt x="9743553" y="2377267"/>
                    <a:pt x="9524787" y="2569020"/>
                    <a:pt x="9254996" y="2569020"/>
                  </a:cubicBezTo>
                  <a:lnTo>
                    <a:pt x="488556" y="2569020"/>
                  </a:lnTo>
                  <a:cubicBezTo>
                    <a:pt x="218765" y="2569020"/>
                    <a:pt x="0" y="2377267"/>
                    <a:pt x="0" y="21408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8378185" y="6089818"/>
            <a:ext cx="1918393" cy="462157"/>
            <a:chOff x="0" y="0"/>
            <a:chExt cx="2557857" cy="616209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557921" cy="616298"/>
            </a:xfrm>
            <a:custGeom>
              <a:avLst/>
              <a:gdLst/>
              <a:ahLst/>
              <a:cxnLst/>
              <a:rect l="l" t="t" r="r" b="b"/>
              <a:pathLst>
                <a:path w="2557921" h="616298">
                  <a:moveTo>
                    <a:pt x="0" y="102733"/>
                  </a:moveTo>
                  <a:cubicBezTo>
                    <a:pt x="0" y="46022"/>
                    <a:pt x="46834" y="0"/>
                    <a:pt x="104547" y="0"/>
                  </a:cubicBezTo>
                  <a:lnTo>
                    <a:pt x="2453367" y="0"/>
                  </a:lnTo>
                  <a:cubicBezTo>
                    <a:pt x="2511080" y="0"/>
                    <a:pt x="2557921" y="46022"/>
                    <a:pt x="2557921" y="102733"/>
                  </a:cubicBezTo>
                  <a:lnTo>
                    <a:pt x="2557921" y="513555"/>
                  </a:lnTo>
                  <a:cubicBezTo>
                    <a:pt x="2557921" y="570266"/>
                    <a:pt x="2511080" y="616298"/>
                    <a:pt x="2453367" y="616298"/>
                  </a:cubicBezTo>
                  <a:lnTo>
                    <a:pt x="104547" y="616298"/>
                  </a:lnTo>
                  <a:cubicBezTo>
                    <a:pt x="46834" y="616176"/>
                    <a:pt x="0" y="570266"/>
                    <a:pt x="0" y="513555"/>
                  </a:cubicBezTo>
                  <a:close/>
                </a:path>
              </a:pathLst>
            </a:custGeom>
            <a:solidFill>
              <a:srgbClr val="AE433D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8342196" y="6183627"/>
            <a:ext cx="1990373" cy="274539"/>
            <a:chOff x="0" y="0"/>
            <a:chExt cx="2653830" cy="36605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653833" cy="366046"/>
            </a:xfrm>
            <a:custGeom>
              <a:avLst/>
              <a:gdLst/>
              <a:ahLst/>
              <a:cxnLst/>
              <a:rect l="l" t="t" r="r" b="b"/>
              <a:pathLst>
                <a:path w="2653833" h="366046">
                  <a:moveTo>
                    <a:pt x="0" y="0"/>
                  </a:moveTo>
                  <a:lnTo>
                    <a:pt x="2653833" y="0"/>
                  </a:lnTo>
                  <a:lnTo>
                    <a:pt x="265383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1265" b="-91267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2653830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WEAKNESSES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8342196" y="6780575"/>
            <a:ext cx="70144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sz="1509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Needs storage, governance, staff time and reliable material flow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8080709" y="7761951"/>
            <a:ext cx="6681401" cy="1759915"/>
            <a:chOff x="0" y="0"/>
            <a:chExt cx="9752869" cy="256895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752882" cy="2569020"/>
            </a:xfrm>
            <a:custGeom>
              <a:avLst/>
              <a:gdLst/>
              <a:ahLst/>
              <a:cxnLst/>
              <a:rect l="l" t="t" r="r" b="b"/>
              <a:pathLst>
                <a:path w="9752882" h="2569020">
                  <a:moveTo>
                    <a:pt x="0" y="428202"/>
                  </a:moveTo>
                  <a:cubicBezTo>
                    <a:pt x="0" y="191740"/>
                    <a:pt x="218975" y="0"/>
                    <a:pt x="489024" y="0"/>
                  </a:cubicBezTo>
                  <a:lnTo>
                    <a:pt x="9263857" y="0"/>
                  </a:lnTo>
                  <a:cubicBezTo>
                    <a:pt x="9533906" y="0"/>
                    <a:pt x="9752882" y="191740"/>
                    <a:pt x="9752882" y="428202"/>
                  </a:cubicBezTo>
                  <a:lnTo>
                    <a:pt x="9752882" y="2140805"/>
                  </a:lnTo>
                  <a:cubicBezTo>
                    <a:pt x="9752882" y="2377267"/>
                    <a:pt x="9533906" y="2569020"/>
                    <a:pt x="9263857" y="2569020"/>
                  </a:cubicBezTo>
                  <a:lnTo>
                    <a:pt x="489024" y="2569020"/>
                  </a:lnTo>
                  <a:cubicBezTo>
                    <a:pt x="218975" y="2569020"/>
                    <a:pt x="0" y="2377267"/>
                    <a:pt x="0" y="21408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8378185" y="7992437"/>
            <a:ext cx="1943450" cy="476460"/>
            <a:chOff x="0" y="0"/>
            <a:chExt cx="2591267" cy="635279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591331" cy="635368"/>
            </a:xfrm>
            <a:custGeom>
              <a:avLst/>
              <a:gdLst/>
              <a:ahLst/>
              <a:cxnLst/>
              <a:rect l="l" t="t" r="r" b="b"/>
              <a:pathLst>
                <a:path w="2591331" h="635368">
                  <a:moveTo>
                    <a:pt x="0" y="105913"/>
                  </a:moveTo>
                  <a:cubicBezTo>
                    <a:pt x="0" y="47446"/>
                    <a:pt x="47446" y="0"/>
                    <a:pt x="105913" y="0"/>
                  </a:cubicBezTo>
                  <a:lnTo>
                    <a:pt x="2485412" y="0"/>
                  </a:lnTo>
                  <a:cubicBezTo>
                    <a:pt x="2543879" y="0"/>
                    <a:pt x="2591331" y="47446"/>
                    <a:pt x="2591331" y="105913"/>
                  </a:cubicBezTo>
                  <a:lnTo>
                    <a:pt x="2591331" y="529448"/>
                  </a:lnTo>
                  <a:cubicBezTo>
                    <a:pt x="2591331" y="587915"/>
                    <a:pt x="2543879" y="635368"/>
                    <a:pt x="2485412" y="635368"/>
                  </a:cubicBezTo>
                  <a:lnTo>
                    <a:pt x="105913" y="635368"/>
                  </a:lnTo>
                  <a:cubicBezTo>
                    <a:pt x="47446" y="635245"/>
                    <a:pt x="0" y="587915"/>
                    <a:pt x="0" y="529448"/>
                  </a:cubicBezTo>
                  <a:close/>
                </a:path>
              </a:pathLst>
            </a:custGeom>
            <a:solidFill>
              <a:srgbClr val="D27E3E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8354724" y="8097212"/>
            <a:ext cx="1990373" cy="274539"/>
            <a:chOff x="0" y="0"/>
            <a:chExt cx="2653830" cy="36605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653833" cy="366046"/>
            </a:xfrm>
            <a:custGeom>
              <a:avLst/>
              <a:gdLst/>
              <a:ahLst/>
              <a:cxnLst/>
              <a:rect l="l" t="t" r="r" b="b"/>
              <a:pathLst>
                <a:path w="2653833" h="366046">
                  <a:moveTo>
                    <a:pt x="0" y="0"/>
                  </a:moveTo>
                  <a:lnTo>
                    <a:pt x="2653833" y="0"/>
                  </a:lnTo>
                  <a:lnTo>
                    <a:pt x="265383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1265" b="-91267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9525"/>
              <a:ext cx="2653830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THREATS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8080709" y="8859422"/>
            <a:ext cx="70144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sz="1509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Contamination • ownership disputes • low participation • production costs • weak demand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15756" y="484994"/>
            <a:ext cx="749483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15 / STAKEHOLDERS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756" y="10066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Who makes the loop work?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3207" y="1967484"/>
            <a:ext cx="1600540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RE:FORM cannot be a student-only initiative; university governance is essential.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68137" y="9658645"/>
            <a:ext cx="70010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5756" y="9681905"/>
            <a:ext cx="5161293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RE:FORM  /  AIU  /  GREEN LOOP 2026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19975" y="2667181"/>
            <a:ext cx="5166589" cy="1638814"/>
            <a:chOff x="0" y="0"/>
            <a:chExt cx="6888785" cy="21850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88861" cy="2185162"/>
            </a:xfrm>
            <a:custGeom>
              <a:avLst/>
              <a:gdLst/>
              <a:ahLst/>
              <a:cxnLst/>
              <a:rect l="l" t="t" r="r" b="b"/>
              <a:pathLst>
                <a:path w="6888861" h="2185162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6524625" y="0"/>
                  </a:lnTo>
                  <a:cubicBezTo>
                    <a:pt x="6725793" y="0"/>
                    <a:pt x="6888861" y="163068"/>
                    <a:pt x="6888861" y="364236"/>
                  </a:cubicBezTo>
                  <a:lnTo>
                    <a:pt x="6888861" y="1820926"/>
                  </a:lnTo>
                  <a:cubicBezTo>
                    <a:pt x="6888861" y="2022094"/>
                    <a:pt x="6725793" y="2185162"/>
                    <a:pt x="6524625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358922" y="2942082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AIU Administration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8922" y="3546053"/>
            <a:ext cx="4488685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Sponsor • permissions • governance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579299" y="2667181"/>
            <a:ext cx="5166589" cy="1638814"/>
            <a:chOff x="0" y="0"/>
            <a:chExt cx="6888785" cy="218508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88861" cy="2185162"/>
            </a:xfrm>
            <a:custGeom>
              <a:avLst/>
              <a:gdLst/>
              <a:ahLst/>
              <a:cxnLst/>
              <a:rect l="l" t="t" r="r" b="b"/>
              <a:pathLst>
                <a:path w="6888861" h="2185162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6524625" y="0"/>
                  </a:lnTo>
                  <a:cubicBezTo>
                    <a:pt x="6725793" y="0"/>
                    <a:pt x="6888861" y="163068"/>
                    <a:pt x="6888861" y="364236"/>
                  </a:cubicBezTo>
                  <a:lnTo>
                    <a:pt x="6888861" y="1820926"/>
                  </a:lnTo>
                  <a:cubicBezTo>
                    <a:pt x="6888861" y="2022094"/>
                    <a:pt x="6725793" y="2185162"/>
                    <a:pt x="6524625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6918246" y="2942082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Sustainability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18246" y="3546053"/>
            <a:ext cx="4488685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Impact framework • reporting • oversight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138622" y="2667181"/>
            <a:ext cx="5166589" cy="1638814"/>
            <a:chOff x="0" y="0"/>
            <a:chExt cx="6888785" cy="218508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88861" cy="2185162"/>
            </a:xfrm>
            <a:custGeom>
              <a:avLst/>
              <a:gdLst/>
              <a:ahLst/>
              <a:cxnLst/>
              <a:rect l="l" t="t" r="r" b="b"/>
              <a:pathLst>
                <a:path w="6888861" h="2185162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6524625" y="0"/>
                  </a:lnTo>
                  <a:cubicBezTo>
                    <a:pt x="6725793" y="0"/>
                    <a:pt x="6888861" y="163068"/>
                    <a:pt x="6888861" y="364236"/>
                  </a:cubicBezTo>
                  <a:lnTo>
                    <a:pt x="6888861" y="1820926"/>
                  </a:lnTo>
                  <a:cubicBezTo>
                    <a:pt x="6888861" y="2022094"/>
                    <a:pt x="6725793" y="2185162"/>
                    <a:pt x="6524625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2477569" y="2942082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Facilities / Events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77569" y="3546053"/>
            <a:ext cx="4488685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Material source • handling • access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19975" y="4657554"/>
            <a:ext cx="5166589" cy="1638814"/>
            <a:chOff x="0" y="0"/>
            <a:chExt cx="6888785" cy="218508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888861" cy="2185162"/>
            </a:xfrm>
            <a:custGeom>
              <a:avLst/>
              <a:gdLst/>
              <a:ahLst/>
              <a:cxnLst/>
              <a:rect l="l" t="t" r="r" b="b"/>
              <a:pathLst>
                <a:path w="6888861" h="2185162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6524625" y="0"/>
                  </a:lnTo>
                  <a:cubicBezTo>
                    <a:pt x="6725793" y="0"/>
                    <a:pt x="6888861" y="163068"/>
                    <a:pt x="6888861" y="364236"/>
                  </a:cubicBezTo>
                  <a:lnTo>
                    <a:pt x="6888861" y="1820926"/>
                  </a:lnTo>
                  <a:cubicBezTo>
                    <a:pt x="6888861" y="2022094"/>
                    <a:pt x="6725793" y="2185162"/>
                    <a:pt x="6524625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358922" y="4932455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Procurement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8922" y="5536425"/>
            <a:ext cx="4488685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Avoided-purchase validation • purchasing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579299" y="4657554"/>
            <a:ext cx="5166589" cy="1638814"/>
            <a:chOff x="0" y="0"/>
            <a:chExt cx="6888785" cy="218508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888861" cy="2185162"/>
            </a:xfrm>
            <a:custGeom>
              <a:avLst/>
              <a:gdLst/>
              <a:ahLst/>
              <a:cxnLst/>
              <a:rect l="l" t="t" r="r" b="b"/>
              <a:pathLst>
                <a:path w="6888861" h="2185162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6524625" y="0"/>
                  </a:lnTo>
                  <a:cubicBezTo>
                    <a:pt x="6725793" y="0"/>
                    <a:pt x="6888861" y="163068"/>
                    <a:pt x="6888861" y="364236"/>
                  </a:cubicBezTo>
                  <a:lnTo>
                    <a:pt x="6888861" y="1820926"/>
                  </a:lnTo>
                  <a:cubicBezTo>
                    <a:pt x="6888861" y="2022094"/>
                    <a:pt x="6725793" y="2185162"/>
                    <a:pt x="6524625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6918246" y="4932455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Faculty / Clubs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18246" y="5536425"/>
            <a:ext cx="4488685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Challenges • student teams • curriculum links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138622" y="4657554"/>
            <a:ext cx="5166589" cy="1638814"/>
            <a:chOff x="0" y="0"/>
            <a:chExt cx="6888785" cy="21850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888861" cy="2185162"/>
            </a:xfrm>
            <a:custGeom>
              <a:avLst/>
              <a:gdLst/>
              <a:ahLst/>
              <a:cxnLst/>
              <a:rect l="l" t="t" r="r" b="b"/>
              <a:pathLst>
                <a:path w="6888861" h="2185162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6524625" y="0"/>
                  </a:lnTo>
                  <a:cubicBezTo>
                    <a:pt x="6725793" y="0"/>
                    <a:pt x="6888861" y="163068"/>
                    <a:pt x="6888861" y="364236"/>
                  </a:cubicBezTo>
                  <a:lnTo>
                    <a:pt x="6888861" y="1820926"/>
                  </a:lnTo>
                  <a:cubicBezTo>
                    <a:pt x="6888861" y="2022094"/>
                    <a:pt x="6725793" y="2185162"/>
                    <a:pt x="6524625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2477569" y="4932455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Students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77569" y="5536425"/>
            <a:ext cx="4488685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Design • prototyping • implementation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19975" y="6647926"/>
            <a:ext cx="5166589" cy="1638814"/>
            <a:chOff x="0" y="0"/>
            <a:chExt cx="6888785" cy="218508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888861" cy="2185162"/>
            </a:xfrm>
            <a:custGeom>
              <a:avLst/>
              <a:gdLst/>
              <a:ahLst/>
              <a:cxnLst/>
              <a:rect l="l" t="t" r="r" b="b"/>
              <a:pathLst>
                <a:path w="6888861" h="2185162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6524625" y="0"/>
                  </a:lnTo>
                  <a:cubicBezTo>
                    <a:pt x="6725793" y="0"/>
                    <a:pt x="6888861" y="163068"/>
                    <a:pt x="6888861" y="364236"/>
                  </a:cubicBezTo>
                  <a:lnTo>
                    <a:pt x="6888861" y="1820926"/>
                  </a:lnTo>
                  <a:cubicBezTo>
                    <a:pt x="6888861" y="2022094"/>
                    <a:pt x="6725793" y="2185162"/>
                    <a:pt x="6524625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1358922" y="6922827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Manufacturers / Makers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58922" y="7526807"/>
            <a:ext cx="4488685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Production • finishing • technical advice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579299" y="6647926"/>
            <a:ext cx="5166589" cy="1638814"/>
            <a:chOff x="0" y="0"/>
            <a:chExt cx="6888785" cy="218508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888861" cy="2185162"/>
            </a:xfrm>
            <a:custGeom>
              <a:avLst/>
              <a:gdLst/>
              <a:ahLst/>
              <a:cxnLst/>
              <a:rect l="l" t="t" r="r" b="b"/>
              <a:pathLst>
                <a:path w="6888861" h="2185162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6524625" y="0"/>
                  </a:lnTo>
                  <a:cubicBezTo>
                    <a:pt x="6725793" y="0"/>
                    <a:pt x="6888861" y="163068"/>
                    <a:pt x="6888861" y="364236"/>
                  </a:cubicBezTo>
                  <a:lnTo>
                    <a:pt x="6888861" y="1820926"/>
                  </a:lnTo>
                  <a:cubicBezTo>
                    <a:pt x="6888861" y="2022094"/>
                    <a:pt x="6725793" y="2185162"/>
                    <a:pt x="6524625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6918246" y="6922827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Recyclers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18246" y="7526807"/>
            <a:ext cx="4488685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Approved fallback pathway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2138622" y="6647926"/>
            <a:ext cx="5166589" cy="1638814"/>
            <a:chOff x="0" y="0"/>
            <a:chExt cx="6888785" cy="218508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888861" cy="2185162"/>
            </a:xfrm>
            <a:custGeom>
              <a:avLst/>
              <a:gdLst/>
              <a:ahLst/>
              <a:cxnLst/>
              <a:rect l="l" t="t" r="r" b="b"/>
              <a:pathLst>
                <a:path w="6888861" h="2185162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6524625" y="0"/>
                  </a:lnTo>
                  <a:cubicBezTo>
                    <a:pt x="6725793" y="0"/>
                    <a:pt x="6888861" y="163068"/>
                    <a:pt x="6888861" y="364236"/>
                  </a:cubicBezTo>
                  <a:lnTo>
                    <a:pt x="6888861" y="1820926"/>
                  </a:lnTo>
                  <a:cubicBezTo>
                    <a:pt x="6888861" y="2022094"/>
                    <a:pt x="6725793" y="2185162"/>
                    <a:pt x="6524625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12477569" y="6922827"/>
            <a:ext cx="4488685" cy="37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Corporate Sponsors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477569" y="7526807"/>
            <a:ext cx="4488685" cy="53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Funding • challenge briefs • visibility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F1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98118" y="594808"/>
            <a:ext cx="543582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16 / BRAND POSITIONING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8118" y="1390964"/>
            <a:ext cx="6808499" cy="855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4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RE:FORM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5569" y="2635891"/>
            <a:ext cx="7494832" cy="139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DON’T RECYCLE IT.</a:t>
            </a:r>
          </a:p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RE:FORM IT.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42040" y="1665494"/>
            <a:ext cx="2004146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MISSION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42040" y="2214562"/>
            <a:ext cx="6671234" cy="154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Keep valuable materials in use for longer — by connecting campus surplus, technology and student creativity.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42040" y="4548111"/>
            <a:ext cx="2004146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VISION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42040" y="5097180"/>
            <a:ext cx="6671234" cy="1404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Every university becomes a place where waste is a design problem waiting to be solved.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5569" y="7087553"/>
            <a:ext cx="2278675" cy="3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PERSONALITY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5569" y="7585910"/>
            <a:ext cx="7632097" cy="45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Premium • innovative • youthful • credible • practical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68137" y="9658645"/>
            <a:ext cx="70010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15756" y="484994"/>
            <a:ext cx="749483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17 / CREDIBILITY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756" y="1006612"/>
            <a:ext cx="16211302" cy="81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Verified vs assumptions vs validation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3207" y="1967484"/>
            <a:ext cx="16005400" cy="5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56D68"/>
                </a:solidFill>
                <a:latin typeface="Aptos"/>
                <a:ea typeface="Aptos"/>
                <a:cs typeface="Aptos"/>
                <a:sym typeface="Aptos"/>
              </a:rPr>
              <a:t>This is essential for a competition jury: it separates facts from the business model you are proposing.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68137" y="9658645"/>
            <a:ext cx="70010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19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5756" y="9681905"/>
            <a:ext cx="5161293" cy="2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1">
                <a:solidFill>
                  <a:srgbClr val="656D68"/>
                </a:solidFill>
                <a:latin typeface="Aptos Bold"/>
                <a:ea typeface="Aptos Bold"/>
                <a:cs typeface="Aptos Bold"/>
                <a:sym typeface="Aptos Bold"/>
              </a:rPr>
              <a:t>RE:FORM  /  AIU  /  GREEN LOOP 2026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19975" y="2667181"/>
            <a:ext cx="16216598" cy="952481"/>
            <a:chOff x="0" y="0"/>
            <a:chExt cx="21622131" cy="12699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622257" cy="1270000"/>
            </a:xfrm>
            <a:custGeom>
              <a:avLst/>
              <a:gdLst/>
              <a:ahLst/>
              <a:cxnLst/>
              <a:rect l="l" t="t" r="r" b="b"/>
              <a:pathLst>
                <a:path w="21622257" h="1270000">
                  <a:moveTo>
                    <a:pt x="0" y="211709"/>
                  </a:moveTo>
                  <a:cubicBezTo>
                    <a:pt x="0" y="94742"/>
                    <a:pt x="94742" y="0"/>
                    <a:pt x="211709" y="0"/>
                  </a:cubicBezTo>
                  <a:lnTo>
                    <a:pt x="21410549" y="0"/>
                  </a:lnTo>
                  <a:cubicBezTo>
                    <a:pt x="21527388" y="0"/>
                    <a:pt x="21622257" y="94742"/>
                    <a:pt x="21622257" y="211709"/>
                  </a:cubicBezTo>
                  <a:lnTo>
                    <a:pt x="21622257" y="1058291"/>
                  </a:lnTo>
                  <a:cubicBezTo>
                    <a:pt x="21622257" y="1175131"/>
                    <a:pt x="21527515" y="1270000"/>
                    <a:pt x="21410549" y="1270000"/>
                  </a:cubicBezTo>
                  <a:lnTo>
                    <a:pt x="211709" y="1270000"/>
                  </a:lnTo>
                  <a:cubicBezTo>
                    <a:pt x="94742" y="1270000"/>
                    <a:pt x="0" y="1175258"/>
                    <a:pt x="0" y="105829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345216" y="2882608"/>
            <a:ext cx="2470814" cy="521618"/>
            <a:chOff x="0" y="0"/>
            <a:chExt cx="3294418" cy="6954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94507" cy="695579"/>
            </a:xfrm>
            <a:custGeom>
              <a:avLst/>
              <a:gdLst/>
              <a:ahLst/>
              <a:cxnLst/>
              <a:rect l="l" t="t" r="r" b="b"/>
              <a:pathLst>
                <a:path w="3294507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3178556" y="0"/>
                  </a:lnTo>
                  <a:cubicBezTo>
                    <a:pt x="3242564" y="0"/>
                    <a:pt x="3294507" y="51943"/>
                    <a:pt x="3294507" y="115951"/>
                  </a:cubicBezTo>
                  <a:lnTo>
                    <a:pt x="3294507" y="579628"/>
                  </a:lnTo>
                  <a:cubicBezTo>
                    <a:pt x="3294507" y="643636"/>
                    <a:pt x="3242564" y="695579"/>
                    <a:pt x="3178556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1F704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413853" y="2985564"/>
            <a:ext cx="2333539" cy="274539"/>
            <a:chOff x="0" y="0"/>
            <a:chExt cx="3111386" cy="36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11391" cy="366046"/>
            </a:xfrm>
            <a:custGeom>
              <a:avLst/>
              <a:gdLst/>
              <a:ahLst/>
              <a:cxnLst/>
              <a:rect l="l" t="t" r="r" b="b"/>
              <a:pathLst>
                <a:path w="3111391" h="366046">
                  <a:moveTo>
                    <a:pt x="0" y="0"/>
                  </a:moveTo>
                  <a:lnTo>
                    <a:pt x="3111391" y="0"/>
                  </a:lnTo>
                  <a:lnTo>
                    <a:pt x="311139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5621" b="-115623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3111386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VERIFIED / SOURCE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214079" y="2873445"/>
            <a:ext cx="12367822" cy="43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Use official AIU and competition sources for institutional facts.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19975" y="3833946"/>
            <a:ext cx="16216598" cy="952481"/>
            <a:chOff x="0" y="0"/>
            <a:chExt cx="21622131" cy="126997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622257" cy="1270000"/>
            </a:xfrm>
            <a:custGeom>
              <a:avLst/>
              <a:gdLst/>
              <a:ahLst/>
              <a:cxnLst/>
              <a:rect l="l" t="t" r="r" b="b"/>
              <a:pathLst>
                <a:path w="21622257" h="1270000">
                  <a:moveTo>
                    <a:pt x="0" y="211709"/>
                  </a:moveTo>
                  <a:cubicBezTo>
                    <a:pt x="0" y="94742"/>
                    <a:pt x="94742" y="0"/>
                    <a:pt x="211709" y="0"/>
                  </a:cubicBezTo>
                  <a:lnTo>
                    <a:pt x="21410549" y="0"/>
                  </a:lnTo>
                  <a:cubicBezTo>
                    <a:pt x="21527388" y="0"/>
                    <a:pt x="21622257" y="94742"/>
                    <a:pt x="21622257" y="211709"/>
                  </a:cubicBezTo>
                  <a:lnTo>
                    <a:pt x="21622257" y="1058291"/>
                  </a:lnTo>
                  <a:cubicBezTo>
                    <a:pt x="21622257" y="1175131"/>
                    <a:pt x="21527515" y="1270000"/>
                    <a:pt x="21410549" y="1270000"/>
                  </a:cubicBezTo>
                  <a:lnTo>
                    <a:pt x="211709" y="1270000"/>
                  </a:lnTo>
                  <a:cubicBezTo>
                    <a:pt x="94742" y="1270000"/>
                    <a:pt x="0" y="1175258"/>
                    <a:pt x="0" y="105829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345216" y="4049382"/>
            <a:ext cx="2470814" cy="521618"/>
            <a:chOff x="0" y="0"/>
            <a:chExt cx="3294418" cy="6954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294507" cy="695579"/>
            </a:xfrm>
            <a:custGeom>
              <a:avLst/>
              <a:gdLst/>
              <a:ahLst/>
              <a:cxnLst/>
              <a:rect l="l" t="t" r="r" b="b"/>
              <a:pathLst>
                <a:path w="3294507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3178556" y="0"/>
                  </a:lnTo>
                  <a:cubicBezTo>
                    <a:pt x="3242564" y="0"/>
                    <a:pt x="3294507" y="51943"/>
                    <a:pt x="3294507" y="115951"/>
                  </a:cubicBezTo>
                  <a:lnTo>
                    <a:pt x="3294507" y="579628"/>
                  </a:lnTo>
                  <a:cubicBezTo>
                    <a:pt x="3294507" y="643636"/>
                    <a:pt x="3242564" y="695579"/>
                    <a:pt x="3178556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D27E3E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413853" y="4152338"/>
            <a:ext cx="2333539" cy="274539"/>
            <a:chOff x="0" y="0"/>
            <a:chExt cx="3111386" cy="3660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111391" cy="366046"/>
            </a:xfrm>
            <a:custGeom>
              <a:avLst/>
              <a:gdLst/>
              <a:ahLst/>
              <a:cxnLst/>
              <a:rect l="l" t="t" r="r" b="b"/>
              <a:pathLst>
                <a:path w="3111391" h="366046">
                  <a:moveTo>
                    <a:pt x="0" y="0"/>
                  </a:moveTo>
                  <a:lnTo>
                    <a:pt x="3111391" y="0"/>
                  </a:lnTo>
                  <a:lnTo>
                    <a:pt x="311139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5621" b="-11562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3111386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ASSUMPTION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4214079" y="4040219"/>
            <a:ext cx="12367822" cy="43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181F1C"/>
                </a:solidFill>
                <a:latin typeface="Aptos Bold"/>
                <a:ea typeface="Aptos Bold"/>
                <a:cs typeface="Aptos Bold"/>
                <a:sym typeface="Aptos Bold"/>
              </a:rPr>
              <a:t>Pricing, cost estimates and 3-year financials are planning assumptions.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19975" y="5000720"/>
            <a:ext cx="16216598" cy="952481"/>
            <a:chOff x="0" y="0"/>
            <a:chExt cx="21622131" cy="12699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622257" cy="1270000"/>
            </a:xfrm>
            <a:custGeom>
              <a:avLst/>
              <a:gdLst/>
              <a:ahLst/>
              <a:cxnLst/>
              <a:rect l="l" t="t" r="r" b="b"/>
              <a:pathLst>
                <a:path w="21622257" h="1270000">
                  <a:moveTo>
                    <a:pt x="0" y="211709"/>
                  </a:moveTo>
                  <a:cubicBezTo>
                    <a:pt x="0" y="94742"/>
                    <a:pt x="94742" y="0"/>
                    <a:pt x="211709" y="0"/>
                  </a:cubicBezTo>
                  <a:lnTo>
                    <a:pt x="21410549" y="0"/>
                  </a:lnTo>
                  <a:cubicBezTo>
                    <a:pt x="21527388" y="0"/>
                    <a:pt x="21622257" y="94742"/>
                    <a:pt x="21622257" y="211709"/>
                  </a:cubicBezTo>
                  <a:lnTo>
                    <a:pt x="21622257" y="1058291"/>
                  </a:lnTo>
                  <a:cubicBezTo>
                    <a:pt x="21622257" y="1175131"/>
                    <a:pt x="21527515" y="1270000"/>
                    <a:pt x="21410549" y="1270000"/>
                  </a:cubicBezTo>
                  <a:lnTo>
                    <a:pt x="211709" y="1270000"/>
                  </a:lnTo>
                  <a:cubicBezTo>
                    <a:pt x="94742" y="1270000"/>
                    <a:pt x="0" y="1175258"/>
                    <a:pt x="0" y="105829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345216" y="5216157"/>
            <a:ext cx="2470814" cy="521618"/>
            <a:chOff x="0" y="0"/>
            <a:chExt cx="3294418" cy="69549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294507" cy="695579"/>
            </a:xfrm>
            <a:custGeom>
              <a:avLst/>
              <a:gdLst/>
              <a:ahLst/>
              <a:cxnLst/>
              <a:rect l="l" t="t" r="r" b="b"/>
              <a:pathLst>
                <a:path w="3294507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3178556" y="0"/>
                  </a:lnTo>
                  <a:cubicBezTo>
                    <a:pt x="3242564" y="0"/>
                    <a:pt x="3294507" y="51943"/>
                    <a:pt x="3294507" y="115951"/>
                  </a:cubicBezTo>
                  <a:lnTo>
                    <a:pt x="3294507" y="579628"/>
                  </a:lnTo>
                  <a:cubicBezTo>
                    <a:pt x="3294507" y="643636"/>
                    <a:pt x="3242564" y="695579"/>
                    <a:pt x="3178556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AE433D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413853" y="5319103"/>
            <a:ext cx="2333539" cy="274539"/>
            <a:chOff x="0" y="0"/>
            <a:chExt cx="3111386" cy="36605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111391" cy="366046"/>
            </a:xfrm>
            <a:custGeom>
              <a:avLst/>
              <a:gdLst/>
              <a:ahLst/>
              <a:cxnLst/>
              <a:rect l="l" t="t" r="r" b="b"/>
              <a:pathLst>
                <a:path w="3111391" h="366046">
                  <a:moveTo>
                    <a:pt x="0" y="0"/>
                  </a:moveTo>
                  <a:lnTo>
                    <a:pt x="3111391" y="0"/>
                  </a:lnTo>
                  <a:lnTo>
                    <a:pt x="311139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5621" b="-11562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3111386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 VALIDATE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214079" y="5206994"/>
            <a:ext cx="12367822" cy="43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81F1C"/>
                </a:solidFill>
                <a:latin typeface="Aptos"/>
                <a:ea typeface="Aptos"/>
                <a:cs typeface="Aptos"/>
                <a:sym typeface="Aptos"/>
              </a:rPr>
              <a:t>Actual material volumes, storage capacity, ownership, internal permissions and handling workflow.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19975" y="6167495"/>
            <a:ext cx="16216598" cy="952481"/>
            <a:chOff x="0" y="0"/>
            <a:chExt cx="21622131" cy="126997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622257" cy="1270000"/>
            </a:xfrm>
            <a:custGeom>
              <a:avLst/>
              <a:gdLst/>
              <a:ahLst/>
              <a:cxnLst/>
              <a:rect l="l" t="t" r="r" b="b"/>
              <a:pathLst>
                <a:path w="21622257" h="1270000">
                  <a:moveTo>
                    <a:pt x="0" y="211709"/>
                  </a:moveTo>
                  <a:cubicBezTo>
                    <a:pt x="0" y="94742"/>
                    <a:pt x="94742" y="0"/>
                    <a:pt x="211709" y="0"/>
                  </a:cubicBezTo>
                  <a:lnTo>
                    <a:pt x="21410549" y="0"/>
                  </a:lnTo>
                  <a:cubicBezTo>
                    <a:pt x="21527388" y="0"/>
                    <a:pt x="21622257" y="94742"/>
                    <a:pt x="21622257" y="211709"/>
                  </a:cubicBezTo>
                  <a:lnTo>
                    <a:pt x="21622257" y="1058291"/>
                  </a:lnTo>
                  <a:cubicBezTo>
                    <a:pt x="21622257" y="1175131"/>
                    <a:pt x="21527515" y="1270000"/>
                    <a:pt x="21410549" y="1270000"/>
                  </a:cubicBezTo>
                  <a:lnTo>
                    <a:pt x="211709" y="1270000"/>
                  </a:lnTo>
                  <a:cubicBezTo>
                    <a:pt x="94742" y="1270000"/>
                    <a:pt x="0" y="1175258"/>
                    <a:pt x="0" y="105829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345216" y="6382931"/>
            <a:ext cx="2470814" cy="521618"/>
            <a:chOff x="0" y="0"/>
            <a:chExt cx="3294418" cy="69549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294507" cy="695579"/>
            </a:xfrm>
            <a:custGeom>
              <a:avLst/>
              <a:gdLst/>
              <a:ahLst/>
              <a:cxnLst/>
              <a:rect l="l" t="t" r="r" b="b"/>
              <a:pathLst>
                <a:path w="3294507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3178556" y="0"/>
                  </a:lnTo>
                  <a:cubicBezTo>
                    <a:pt x="3242564" y="0"/>
                    <a:pt x="3294507" y="51943"/>
                    <a:pt x="3294507" y="115951"/>
                  </a:cubicBezTo>
                  <a:lnTo>
                    <a:pt x="3294507" y="579628"/>
                  </a:lnTo>
                  <a:cubicBezTo>
                    <a:pt x="3294507" y="643636"/>
                    <a:pt x="3242564" y="695579"/>
                    <a:pt x="3178556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AE433D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413853" y="6485877"/>
            <a:ext cx="2333539" cy="274539"/>
            <a:chOff x="0" y="0"/>
            <a:chExt cx="3111386" cy="36605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111391" cy="366046"/>
            </a:xfrm>
            <a:custGeom>
              <a:avLst/>
              <a:gdLst/>
              <a:ahLst/>
              <a:cxnLst/>
              <a:rect l="l" t="t" r="r" b="b"/>
              <a:pathLst>
                <a:path w="3111391" h="366046">
                  <a:moveTo>
                    <a:pt x="0" y="0"/>
                  </a:moveTo>
                  <a:lnTo>
                    <a:pt x="3111391" y="0"/>
                  </a:lnTo>
                  <a:lnTo>
                    <a:pt x="311139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5621" b="-11562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3111386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 VALIDATE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4214079" y="6373759"/>
            <a:ext cx="12367822" cy="43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81F1C"/>
                </a:solidFill>
                <a:latin typeface="Aptos"/>
                <a:ea typeface="Aptos"/>
                <a:cs typeface="Aptos"/>
                <a:sym typeface="Aptos"/>
              </a:rPr>
              <a:t>Supplier quotes, manufacturing costs, student demand and sponsor willingness to pay.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019975" y="7334269"/>
            <a:ext cx="16216598" cy="952481"/>
            <a:chOff x="0" y="0"/>
            <a:chExt cx="21622131" cy="126997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622257" cy="1270000"/>
            </a:xfrm>
            <a:custGeom>
              <a:avLst/>
              <a:gdLst/>
              <a:ahLst/>
              <a:cxnLst/>
              <a:rect l="l" t="t" r="r" b="b"/>
              <a:pathLst>
                <a:path w="21622257" h="1270000">
                  <a:moveTo>
                    <a:pt x="0" y="211709"/>
                  </a:moveTo>
                  <a:cubicBezTo>
                    <a:pt x="0" y="94742"/>
                    <a:pt x="94742" y="0"/>
                    <a:pt x="211709" y="0"/>
                  </a:cubicBezTo>
                  <a:lnTo>
                    <a:pt x="21410549" y="0"/>
                  </a:lnTo>
                  <a:cubicBezTo>
                    <a:pt x="21527388" y="0"/>
                    <a:pt x="21622257" y="94742"/>
                    <a:pt x="21622257" y="211709"/>
                  </a:cubicBezTo>
                  <a:lnTo>
                    <a:pt x="21622257" y="1058291"/>
                  </a:lnTo>
                  <a:cubicBezTo>
                    <a:pt x="21622257" y="1175131"/>
                    <a:pt x="21527515" y="1270000"/>
                    <a:pt x="21410549" y="1270000"/>
                  </a:cubicBezTo>
                  <a:lnTo>
                    <a:pt x="211709" y="1270000"/>
                  </a:lnTo>
                  <a:cubicBezTo>
                    <a:pt x="94742" y="1270000"/>
                    <a:pt x="0" y="1175258"/>
                    <a:pt x="0" y="105829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DBD6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1345216" y="7549696"/>
            <a:ext cx="2470814" cy="521618"/>
            <a:chOff x="0" y="0"/>
            <a:chExt cx="3294418" cy="69549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294507" cy="695579"/>
            </a:xfrm>
            <a:custGeom>
              <a:avLst/>
              <a:gdLst/>
              <a:ahLst/>
              <a:cxnLst/>
              <a:rect l="l" t="t" r="r" b="b"/>
              <a:pathLst>
                <a:path w="3294507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3178556" y="0"/>
                  </a:lnTo>
                  <a:cubicBezTo>
                    <a:pt x="3242564" y="0"/>
                    <a:pt x="3294507" y="51943"/>
                    <a:pt x="3294507" y="115951"/>
                  </a:cubicBezTo>
                  <a:lnTo>
                    <a:pt x="3294507" y="579628"/>
                  </a:lnTo>
                  <a:cubicBezTo>
                    <a:pt x="3294507" y="643636"/>
                    <a:pt x="3242564" y="695579"/>
                    <a:pt x="3178556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AE433D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413853" y="7652652"/>
            <a:ext cx="2333539" cy="274539"/>
            <a:chOff x="0" y="0"/>
            <a:chExt cx="3111386" cy="36605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111391" cy="366046"/>
            </a:xfrm>
            <a:custGeom>
              <a:avLst/>
              <a:gdLst/>
              <a:ahLst/>
              <a:cxnLst/>
              <a:rect l="l" t="t" r="r" b="b"/>
              <a:pathLst>
                <a:path w="3111391" h="366046">
                  <a:moveTo>
                    <a:pt x="0" y="0"/>
                  </a:moveTo>
                  <a:lnTo>
                    <a:pt x="3111391" y="0"/>
                  </a:lnTo>
                  <a:lnTo>
                    <a:pt x="311139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5621" b="-115623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3111386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 VALIDATE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4214079" y="7540533"/>
            <a:ext cx="12367822" cy="43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81F1C"/>
                </a:solidFill>
                <a:latin typeface="Aptos"/>
                <a:ea typeface="Aptos"/>
                <a:cs typeface="Aptos"/>
                <a:sym typeface="Aptos"/>
              </a:rPr>
              <a:t>Which material streams are safe, legal and economically feasible for the pilot.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029500" y="8716470"/>
            <a:ext cx="16197539" cy="617706"/>
            <a:chOff x="0" y="0"/>
            <a:chExt cx="21596718" cy="82360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596731" cy="823595"/>
            </a:xfrm>
            <a:custGeom>
              <a:avLst/>
              <a:gdLst/>
              <a:ahLst/>
              <a:cxnLst/>
              <a:rect l="l" t="t" r="r" b="b"/>
              <a:pathLst>
                <a:path w="21596731" h="823595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lnTo>
                    <a:pt x="21459444" y="0"/>
                  </a:lnTo>
                  <a:cubicBezTo>
                    <a:pt x="21535262" y="0"/>
                    <a:pt x="21596731" y="61468"/>
                    <a:pt x="21596731" y="137287"/>
                  </a:cubicBezTo>
                  <a:lnTo>
                    <a:pt x="21596731" y="686308"/>
                  </a:lnTo>
                  <a:cubicBezTo>
                    <a:pt x="21596731" y="762127"/>
                    <a:pt x="21535262" y="823595"/>
                    <a:pt x="21459444" y="823595"/>
                  </a:cubicBezTo>
                  <a:lnTo>
                    <a:pt x="137287" y="823595"/>
                  </a:lnTo>
                  <a:cubicBezTo>
                    <a:pt x="61468" y="823595"/>
                    <a:pt x="0" y="762127"/>
                    <a:pt x="0" y="686308"/>
                  </a:cubicBezTo>
                  <a:close/>
                </a:path>
              </a:pathLst>
            </a:custGeom>
            <a:solidFill>
              <a:srgbClr val="E0F0E4"/>
            </a:solidFill>
          </p:spPr>
        </p:sp>
      </p:grpSp>
      <p:sp>
        <p:nvSpPr>
          <p:cNvPr id="51" name="TextBox 51"/>
          <p:cNvSpPr txBox="1"/>
          <p:nvPr/>
        </p:nvSpPr>
        <p:spPr>
          <a:xfrm>
            <a:off x="1400108" y="8876224"/>
            <a:ext cx="15456332" cy="247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1">
                <a:solidFill>
                  <a:srgbClr val="1F704E"/>
                </a:solidFill>
                <a:latin typeface="Aptos Bold"/>
                <a:ea typeface="Aptos Bold"/>
                <a:cs typeface="Aptos Bold"/>
                <a:sym typeface="Aptos Bold"/>
              </a:rPr>
              <a:t>Before submission: replace assumptions with a baseline audit + supplier quotes + stakeholder interviews.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F1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153020" y="1724606"/>
            <a:ext cx="10240175" cy="86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RE:FORM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0481" y="2969533"/>
            <a:ext cx="9965646" cy="1473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DON’T RECYCLE IT.</a:t>
            </a:r>
          </a:p>
          <a:p>
            <a:pPr algn="l">
              <a:lnSpc>
                <a:spcPts val="5224"/>
              </a:lnSpc>
            </a:pPr>
            <a:r>
              <a:rPr lang="en-US" sz="4353" b="1">
                <a:solidFill>
                  <a:srgbClr val="E0F0E4"/>
                </a:solidFill>
                <a:latin typeface="Aptos Bold"/>
                <a:ea typeface="Aptos Bold"/>
                <a:cs typeface="Aptos Bold"/>
                <a:sym typeface="Aptos Bold"/>
              </a:rPr>
              <a:t>RE:FORM IT.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7932" y="5303072"/>
            <a:ext cx="9416577" cy="1610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Give us one campus.</a:t>
            </a:r>
          </a:p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One material stream.</a:t>
            </a:r>
          </a:p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One challenge.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932" y="7352557"/>
            <a:ext cx="9553842" cy="659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0F0E4"/>
                </a:solidFill>
                <a:latin typeface="Aptos"/>
                <a:ea typeface="Aptos"/>
                <a:cs typeface="Aptos"/>
                <a:sym typeface="Aptos"/>
              </a:rPr>
              <a:t>We will prove whether university surplus can become measurable circular value.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834490" y="7892863"/>
            <a:ext cx="3500314" cy="521618"/>
            <a:chOff x="0" y="0"/>
            <a:chExt cx="4667085" cy="6954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67123" cy="695579"/>
            </a:xfrm>
            <a:custGeom>
              <a:avLst/>
              <a:gdLst/>
              <a:ahLst/>
              <a:cxnLst/>
              <a:rect l="l" t="t" r="r" b="b"/>
              <a:pathLst>
                <a:path w="4667123" h="69557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4551172" y="0"/>
                  </a:lnTo>
                  <a:cubicBezTo>
                    <a:pt x="4615180" y="0"/>
                    <a:pt x="4667123" y="51943"/>
                    <a:pt x="4667123" y="115951"/>
                  </a:cubicBezTo>
                  <a:lnTo>
                    <a:pt x="4667123" y="579628"/>
                  </a:lnTo>
                  <a:cubicBezTo>
                    <a:pt x="4667123" y="643636"/>
                    <a:pt x="4615180" y="695579"/>
                    <a:pt x="4551172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2EDDE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903117" y="7995818"/>
            <a:ext cx="3363049" cy="274539"/>
            <a:chOff x="0" y="0"/>
            <a:chExt cx="4484065" cy="3660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84061" cy="366046"/>
            </a:xfrm>
            <a:custGeom>
              <a:avLst/>
              <a:gdLst/>
              <a:ahLst/>
              <a:cxnLst/>
              <a:rect l="l" t="t" r="r" b="b"/>
              <a:pathLst>
                <a:path w="4484061" h="366046">
                  <a:moveTo>
                    <a:pt x="0" y="0"/>
                  </a:moveTo>
                  <a:lnTo>
                    <a:pt x="4484061" y="0"/>
                  </a:lnTo>
                  <a:lnTo>
                    <a:pt x="448406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690" b="-18869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4484065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181F1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AIU  /  GREEN LOOP 2026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568137" y="9658645"/>
            <a:ext cx="70010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OPPORTUNITIES</dc:title>
  <cp:revision>19</cp:revision>
  <dcterms:created xsi:type="dcterms:W3CDTF">2006-08-16T00:00:00Z</dcterms:created>
  <dcterms:modified xsi:type="dcterms:W3CDTF">2026-08-29T22:53:27Z</dcterms:modified>
  <dc:identifier>DAHTnTCJeWc</dc:identifier>
</cp:coreProperties>
</file>